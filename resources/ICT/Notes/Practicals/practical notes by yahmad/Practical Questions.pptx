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4" r:id="rId3"/>
    <p:sldId id="261" r:id="rId4"/>
    <p:sldId id="274" r:id="rId5"/>
    <p:sldId id="290" r:id="rId6"/>
    <p:sldId id="279" r:id="rId7"/>
    <p:sldId id="284" r:id="rId8"/>
    <p:sldId id="285" r:id="rId9"/>
    <p:sldId id="286" r:id="rId10"/>
    <p:sldId id="287" r:id="rId11"/>
    <p:sldId id="288" r:id="rId12"/>
    <p:sldId id="28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404" autoAdjust="0"/>
  </p:normalViewPr>
  <p:slideViewPr>
    <p:cSldViewPr>
      <p:cViewPr varScale="1">
        <p:scale>
          <a:sx n="62" d="100"/>
          <a:sy n="62" d="100"/>
        </p:scale>
        <p:origin x="132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EC4D09-B81A-4E50-B526-081E042C83AB}" type="datetimeFigureOut">
              <a:rPr lang="en-GB" smtClean="0"/>
              <a:t>15/06/2020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CB338A-0C86-4E6F-957E-3569927EBC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40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CB338A-0C86-4E6F-957E-3569927EBC2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560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700" y="11430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71600" y="594360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4102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5181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71600" y="594360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4102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5181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700" y="11430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371600" y="594360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6/15/2020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54102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5181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700" y="114300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371600" y="594360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6/15/2020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54102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5181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700" y="11430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371600" y="594360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6/15/2020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54102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5181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371600" y="594360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6/15/2020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54102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5181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371600" y="594360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6/15/2020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54102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5181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371600" y="594360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6/15/2020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54102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5181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700" y="11430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71600" y="594360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4102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5181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71600" y="594360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4102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518160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0" y="10668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578719"/>
              </p:ext>
            </p:extLst>
          </p:nvPr>
        </p:nvGraphicFramePr>
        <p:xfrm>
          <a:off x="685800" y="162560"/>
          <a:ext cx="8229600" cy="7670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GB" sz="2000" dirty="0"/>
                        <a:t>ICT IGCSE</a:t>
                      </a:r>
                      <a:r>
                        <a:rPr lang="en-GB" sz="2000" baseline="0" dirty="0"/>
                        <a:t> Theory – Revision Presentation</a:t>
                      </a:r>
                      <a:endParaRPr lang="en-GB" sz="2000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Practical Exam Questions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 userDrawn="1"/>
        </p:nvSpPr>
        <p:spPr>
          <a:xfrm>
            <a:off x="152400" y="0"/>
            <a:ext cx="3810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09835" y="0"/>
            <a:ext cx="461665" cy="6858000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en-GB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Practical Exam</a:t>
            </a:r>
            <a:r>
              <a:rPr lang="en-GB" sz="1800" b="1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Questions</a:t>
            </a:r>
            <a:endParaRPr lang="en-GB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0" y="6477000"/>
            <a:ext cx="3810000" cy="2286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WWW.YAHMAD.CO.UK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12351"/>
              </p:ext>
            </p:extLst>
          </p:nvPr>
        </p:nvGraphicFramePr>
        <p:xfrm>
          <a:off x="720434" y="1066800"/>
          <a:ext cx="819496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4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 2015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Sum 2015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Specimen Paper 2016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1084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30468" y="1524000"/>
            <a:ext cx="8184932" cy="45243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A video shop owner uses a spreadsheet to calculate his costs. This is part of the spreadsheet.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Give the cell reference of the cell that contains </a:t>
            </a:r>
            <a:r>
              <a:rPr lang="en-US" sz="1600" b="1" dirty="0">
                <a:solidFill>
                  <a:srgbClr val="FF0000"/>
                </a:solidFill>
              </a:rPr>
              <a:t>$20</a:t>
            </a:r>
            <a:r>
              <a:rPr lang="en-US" sz="1600" b="1" dirty="0"/>
              <a:t>. </a:t>
            </a:r>
            <a:r>
              <a:rPr lang="en-US" sz="1600" b="1" dirty="0">
                <a:solidFill>
                  <a:srgbClr val="FF0000"/>
                </a:solidFill>
              </a:rPr>
              <a:t>C5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Give the </a:t>
            </a:r>
            <a:r>
              <a:rPr lang="en-US" sz="1600" b="1" dirty="0">
                <a:solidFill>
                  <a:srgbClr val="7030A0"/>
                </a:solidFill>
              </a:rPr>
              <a:t>number of rows </a:t>
            </a:r>
            <a:r>
              <a:rPr lang="en-US" sz="1600" b="1" dirty="0"/>
              <a:t>shown in the spreadsheet. </a:t>
            </a:r>
            <a:r>
              <a:rPr lang="en-US" sz="1600" b="1" dirty="0">
                <a:solidFill>
                  <a:srgbClr val="7030A0"/>
                </a:solidFill>
              </a:rPr>
              <a:t>8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Write down the formula which should go in cell </a:t>
            </a:r>
            <a:r>
              <a:rPr lang="en-US" sz="1600" b="1" dirty="0">
                <a:solidFill>
                  <a:srgbClr val="00B050"/>
                </a:solidFill>
              </a:rPr>
              <a:t>D2</a:t>
            </a:r>
            <a:r>
              <a:rPr lang="en-US" sz="1600" b="1" dirty="0"/>
              <a:t>. </a:t>
            </a:r>
            <a:r>
              <a:rPr lang="en-US" sz="1600" b="1" dirty="0">
                <a:solidFill>
                  <a:srgbClr val="00B050"/>
                </a:solidFill>
              </a:rPr>
              <a:t>=b2*c2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Write down the formula which should go in cell </a:t>
            </a:r>
            <a:r>
              <a:rPr lang="en-US" sz="1600" b="1" dirty="0">
                <a:solidFill>
                  <a:srgbClr val="C00000"/>
                </a:solidFill>
              </a:rPr>
              <a:t>D8</a:t>
            </a:r>
            <a:r>
              <a:rPr lang="en-US" sz="1600" b="1" dirty="0"/>
              <a:t>. Make the most efficient use of a function.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C00000"/>
                </a:solidFill>
              </a:rPr>
              <a:t> =sum(d2:d6)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576598"/>
              </p:ext>
            </p:extLst>
          </p:nvPr>
        </p:nvGraphicFramePr>
        <p:xfrm>
          <a:off x="720434" y="1066800"/>
          <a:ext cx="81949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4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2015 Nov 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52" t="36156" r="26169" b="29169"/>
          <a:stretch/>
        </p:blipFill>
        <p:spPr bwMode="auto">
          <a:xfrm>
            <a:off x="838200" y="1905000"/>
            <a:ext cx="4254048" cy="1897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621975" y="2936175"/>
            <a:ext cx="4572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777968" y="2057400"/>
            <a:ext cx="336332" cy="174539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4267200" y="2300983"/>
            <a:ext cx="825048" cy="22252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1865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30468" y="1524000"/>
            <a:ext cx="8184932" cy="48013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A student types in the formula =IF(</a:t>
            </a:r>
            <a:r>
              <a:rPr lang="en-US" sz="1600" b="1" dirty="0">
                <a:solidFill>
                  <a:srgbClr val="7030A0"/>
                </a:solidFill>
              </a:rPr>
              <a:t>A1&gt;12</a:t>
            </a:r>
            <a:r>
              <a:rPr lang="en-US" sz="1600" b="1" dirty="0"/>
              <a:t>,"</a:t>
            </a:r>
            <a:r>
              <a:rPr lang="en-US" sz="1600" b="1" dirty="0">
                <a:solidFill>
                  <a:srgbClr val="00B050"/>
                </a:solidFill>
              </a:rPr>
              <a:t>strong</a:t>
            </a:r>
            <a:r>
              <a:rPr lang="en-US" sz="1600" b="1" dirty="0"/>
              <a:t>",IF(</a:t>
            </a:r>
            <a:r>
              <a:rPr lang="en-US" sz="1600" b="1" dirty="0">
                <a:solidFill>
                  <a:srgbClr val="7030A0"/>
                </a:solidFill>
              </a:rPr>
              <a:t>A1&gt;6</a:t>
            </a:r>
            <a:r>
              <a:rPr lang="en-US" sz="1600" b="1" dirty="0"/>
              <a:t>,"</a:t>
            </a:r>
            <a:r>
              <a:rPr lang="en-US" sz="1600" b="1" dirty="0">
                <a:solidFill>
                  <a:srgbClr val="00B050"/>
                </a:solidFill>
              </a:rPr>
              <a:t>medium</a:t>
            </a:r>
            <a:r>
              <a:rPr lang="en-US" sz="1600" b="1" dirty="0"/>
              <a:t>","</a:t>
            </a:r>
            <a:r>
              <a:rPr lang="en-US" sz="1600" b="1" dirty="0">
                <a:solidFill>
                  <a:srgbClr val="FF0000"/>
                </a:solidFill>
              </a:rPr>
              <a:t>weak</a:t>
            </a:r>
            <a:r>
              <a:rPr lang="en-US" sz="1600" b="1" dirty="0"/>
              <a:t>")) into a spreadsheet.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Explain, using the terms ‘</a:t>
            </a:r>
            <a:r>
              <a:rPr lang="en-US" sz="1600" b="1" dirty="0">
                <a:solidFill>
                  <a:srgbClr val="7030A0"/>
                </a:solidFill>
              </a:rPr>
              <a:t>condition</a:t>
            </a:r>
            <a:r>
              <a:rPr lang="en-US" sz="1600" b="1" dirty="0"/>
              <a:t>’, ‘</a:t>
            </a:r>
            <a:r>
              <a:rPr lang="en-US" sz="1600" b="1" dirty="0">
                <a:solidFill>
                  <a:srgbClr val="00B050"/>
                </a:solidFill>
              </a:rPr>
              <a:t>true</a:t>
            </a:r>
            <a:r>
              <a:rPr lang="en-US" sz="1600" b="1" dirty="0"/>
              <a:t>’, ‘</a:t>
            </a:r>
            <a:r>
              <a:rPr lang="en-US" sz="1600" b="1" dirty="0">
                <a:solidFill>
                  <a:srgbClr val="FF0000"/>
                </a:solidFill>
              </a:rPr>
              <a:t>false</a:t>
            </a:r>
            <a:r>
              <a:rPr lang="en-US" sz="1600" b="1" dirty="0"/>
              <a:t>’, how this nested IF function works.</a:t>
            </a:r>
            <a:r>
              <a:rPr lang="en-US" b="1" dirty="0"/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/>
              <a:t>Tests to see whether the condition </a:t>
            </a:r>
            <a:r>
              <a:rPr lang="en-US" sz="1600" b="1" dirty="0">
                <a:solidFill>
                  <a:srgbClr val="7030A0"/>
                </a:solidFill>
              </a:rPr>
              <a:t>A1&gt;12</a:t>
            </a:r>
            <a:r>
              <a:rPr lang="en-US" sz="1600" b="1" dirty="0"/>
              <a:t> is true or false  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/>
              <a:t>If the condition </a:t>
            </a:r>
            <a:r>
              <a:rPr lang="en-US" sz="1600" b="1" dirty="0">
                <a:solidFill>
                  <a:srgbClr val="7030A0"/>
                </a:solidFill>
              </a:rPr>
              <a:t>A1&gt;12</a:t>
            </a:r>
            <a:r>
              <a:rPr lang="en-US" sz="1600" b="1" dirty="0"/>
              <a:t> is </a:t>
            </a:r>
            <a:r>
              <a:rPr lang="en-US" sz="1600" b="1" dirty="0">
                <a:solidFill>
                  <a:srgbClr val="00B050"/>
                </a:solidFill>
              </a:rPr>
              <a:t>true</a:t>
            </a:r>
            <a:r>
              <a:rPr lang="en-US" sz="1600" b="1" dirty="0"/>
              <a:t> the function will return “</a:t>
            </a:r>
            <a:r>
              <a:rPr lang="en-US" sz="1600" b="1" dirty="0">
                <a:solidFill>
                  <a:srgbClr val="00B050"/>
                </a:solidFill>
              </a:rPr>
              <a:t>strong</a:t>
            </a:r>
            <a:r>
              <a:rPr lang="en-US" sz="1600" b="1" dirty="0"/>
              <a:t>”  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/>
              <a:t>If the condition </a:t>
            </a:r>
            <a:r>
              <a:rPr lang="en-US" sz="1600" b="1" dirty="0">
                <a:solidFill>
                  <a:srgbClr val="7030A0"/>
                </a:solidFill>
              </a:rPr>
              <a:t>A1&gt;12</a:t>
            </a:r>
            <a:r>
              <a:rPr lang="en-US" sz="1600" b="1" dirty="0"/>
              <a:t> is </a:t>
            </a:r>
            <a:r>
              <a:rPr lang="en-US" sz="1600" b="1" dirty="0">
                <a:solidFill>
                  <a:srgbClr val="FF0000"/>
                </a:solidFill>
              </a:rPr>
              <a:t>false</a:t>
            </a:r>
            <a:r>
              <a:rPr lang="en-US" sz="1600" b="1" dirty="0"/>
              <a:t>, the function will test if </a:t>
            </a:r>
            <a:r>
              <a:rPr lang="en-US" sz="1600" b="1" dirty="0">
                <a:solidFill>
                  <a:srgbClr val="7030A0"/>
                </a:solidFill>
              </a:rPr>
              <a:t>A1&gt;6</a:t>
            </a:r>
            <a:r>
              <a:rPr lang="en-US" sz="1600" b="1" dirty="0"/>
              <a:t> is </a:t>
            </a:r>
            <a:r>
              <a:rPr lang="en-US" sz="1600" b="1" dirty="0">
                <a:solidFill>
                  <a:srgbClr val="00B050"/>
                </a:solidFill>
              </a:rPr>
              <a:t>true</a:t>
            </a:r>
            <a:r>
              <a:rPr lang="en-US" sz="1600" b="1" dirty="0"/>
              <a:t> or </a:t>
            </a:r>
            <a:r>
              <a:rPr lang="en-US" sz="1600" b="1" dirty="0">
                <a:solidFill>
                  <a:srgbClr val="FF0000"/>
                </a:solidFill>
              </a:rPr>
              <a:t>false</a:t>
            </a:r>
            <a:r>
              <a:rPr lang="en-US" sz="1600" b="1" dirty="0"/>
              <a:t>  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/>
              <a:t>If the condition </a:t>
            </a:r>
            <a:r>
              <a:rPr lang="en-US" sz="1600" b="1" dirty="0">
                <a:solidFill>
                  <a:srgbClr val="7030A0"/>
                </a:solidFill>
              </a:rPr>
              <a:t>A1&gt;6</a:t>
            </a:r>
            <a:r>
              <a:rPr lang="en-US" sz="1600" b="1" dirty="0"/>
              <a:t> is </a:t>
            </a:r>
            <a:r>
              <a:rPr lang="en-US" sz="1600" b="1" dirty="0">
                <a:solidFill>
                  <a:srgbClr val="00B050"/>
                </a:solidFill>
              </a:rPr>
              <a:t>true</a:t>
            </a:r>
            <a:r>
              <a:rPr lang="en-US" sz="1600" b="1" dirty="0"/>
              <a:t> the function will return “</a:t>
            </a:r>
            <a:r>
              <a:rPr lang="en-US" sz="1600" b="1" dirty="0">
                <a:solidFill>
                  <a:srgbClr val="00B050"/>
                </a:solidFill>
              </a:rPr>
              <a:t>medium</a:t>
            </a:r>
            <a:r>
              <a:rPr lang="en-US" sz="1600" b="1" dirty="0"/>
              <a:t>”  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/>
              <a:t>If the condition </a:t>
            </a:r>
            <a:r>
              <a:rPr lang="en-US" sz="1600" b="1" dirty="0">
                <a:solidFill>
                  <a:srgbClr val="7030A0"/>
                </a:solidFill>
              </a:rPr>
              <a:t>A1&gt;6</a:t>
            </a:r>
            <a:r>
              <a:rPr lang="en-US" sz="1600" b="1" dirty="0"/>
              <a:t> is </a:t>
            </a:r>
            <a:r>
              <a:rPr lang="en-US" sz="1600" b="1" dirty="0">
                <a:solidFill>
                  <a:srgbClr val="FF0000"/>
                </a:solidFill>
              </a:rPr>
              <a:t>false</a:t>
            </a:r>
            <a:r>
              <a:rPr lang="en-US" sz="1600" b="1" dirty="0"/>
              <a:t> the function will return “</a:t>
            </a:r>
            <a:r>
              <a:rPr lang="en-US" sz="1600" b="1" dirty="0">
                <a:solidFill>
                  <a:srgbClr val="FF0000"/>
                </a:solidFill>
              </a:rPr>
              <a:t>weak</a:t>
            </a:r>
            <a:r>
              <a:rPr lang="en-US" sz="1600" b="1" dirty="0"/>
              <a:t>”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Another student wishes to reverse the formula to get the same result.  She types in the formula IF(</a:t>
            </a:r>
            <a:r>
              <a:rPr lang="en-US" sz="1600" b="1" dirty="0">
                <a:solidFill>
                  <a:srgbClr val="7030A0"/>
                </a:solidFill>
              </a:rPr>
              <a:t>A1&lt;6</a:t>
            </a:r>
            <a:r>
              <a:rPr lang="en-US" sz="1600" b="1" dirty="0"/>
              <a:t>,"</a:t>
            </a:r>
            <a:r>
              <a:rPr lang="en-US" sz="1600" b="1" dirty="0">
                <a:solidFill>
                  <a:srgbClr val="00B050"/>
                </a:solidFill>
              </a:rPr>
              <a:t>weak</a:t>
            </a:r>
            <a:r>
              <a:rPr lang="en-US" sz="1600" b="1" dirty="0"/>
              <a:t>",IF(</a:t>
            </a:r>
            <a:r>
              <a:rPr lang="en-US" sz="1600" b="1" dirty="0">
                <a:solidFill>
                  <a:srgbClr val="7030A0"/>
                </a:solidFill>
              </a:rPr>
              <a:t>A1&lt;12</a:t>
            </a:r>
            <a:r>
              <a:rPr lang="en-US" sz="1600" b="1" dirty="0"/>
              <a:t>,"</a:t>
            </a:r>
            <a:r>
              <a:rPr lang="en-US" sz="1600" b="1" dirty="0">
                <a:solidFill>
                  <a:srgbClr val="00B050"/>
                </a:solidFill>
              </a:rPr>
              <a:t>medium</a:t>
            </a:r>
            <a:r>
              <a:rPr lang="en-US" sz="1600" b="1" dirty="0"/>
              <a:t>","</a:t>
            </a:r>
            <a:r>
              <a:rPr lang="en-US" sz="1600" b="1" dirty="0">
                <a:solidFill>
                  <a:srgbClr val="FF0000"/>
                </a:solidFill>
              </a:rPr>
              <a:t>strong</a:t>
            </a:r>
            <a:r>
              <a:rPr lang="en-US" sz="1600" b="1" dirty="0"/>
              <a:t>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Identify four errors she has made.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FF0000"/>
                </a:solidFill>
              </a:rPr>
              <a:t>Should be A1&lt;=6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FF0000"/>
                </a:solidFill>
              </a:rPr>
              <a:t>Should be A1&lt;=12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FF0000"/>
                </a:solidFill>
              </a:rPr>
              <a:t>Should be “strong” (second speech mark missing)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FF0000"/>
                </a:solidFill>
              </a:rPr>
              <a:t>Should be two right-hand brackets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668062"/>
              </p:ext>
            </p:extLst>
          </p:nvPr>
        </p:nvGraphicFramePr>
        <p:xfrm>
          <a:off x="720434" y="1066800"/>
          <a:ext cx="81949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4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2015 Nov 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0" y="5029200"/>
            <a:ext cx="4267200" cy="584775"/>
          </a:xfrm>
          <a:prstGeom prst="rect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Correct Formula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/>
              <a:t>IF(A1&lt;</a:t>
            </a:r>
            <a:r>
              <a:rPr lang="en-US" sz="1600" b="1" dirty="0">
                <a:solidFill>
                  <a:srgbClr val="FF0000"/>
                </a:solidFill>
              </a:rPr>
              <a:t>=</a:t>
            </a:r>
            <a:r>
              <a:rPr lang="en-US" sz="1600" dirty="0"/>
              <a:t>6,"weak",IF(A1&lt;</a:t>
            </a:r>
            <a:r>
              <a:rPr lang="en-US" sz="1600" b="1" dirty="0">
                <a:solidFill>
                  <a:srgbClr val="FF0000"/>
                </a:solidFill>
              </a:rPr>
              <a:t>=</a:t>
            </a:r>
            <a:r>
              <a:rPr lang="en-US" sz="1600" dirty="0"/>
              <a:t>12,"medium","strong</a:t>
            </a:r>
            <a:r>
              <a:rPr lang="en-US" sz="1600" dirty="0">
                <a:solidFill>
                  <a:srgbClr val="FF0000"/>
                </a:solidFill>
              </a:rPr>
              <a:t>"</a:t>
            </a:r>
            <a:r>
              <a:rPr lang="en-US" sz="1600" dirty="0"/>
              <a:t>)</a:t>
            </a:r>
            <a:r>
              <a:rPr lang="en-US" sz="1600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57412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015709"/>
              </p:ext>
            </p:extLst>
          </p:nvPr>
        </p:nvGraphicFramePr>
        <p:xfrm>
          <a:off x="720434" y="1066800"/>
          <a:ext cx="81949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4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2015 Sum 11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15370" y="1524000"/>
            <a:ext cx="8200030" cy="47397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A head teacher wants to store details of his students’ attendances in a spreadsheet. He has typed in the details of two students so far. Each student is identified by a student ID which consists of one letter followed by 6 digits. The number of possible attendances is recorded along with each student’s actual number of attendances.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/>
              <a:t>The head teacher wants to ensure the Student ID is accurately entered. Describe a method of verifying the input.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Visually comparing the data on screen…with the source document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Data is typed in twice by one typist… Computer compares versions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/>
              <a:t>He wants the spreadsheet to perform a calculation of the percentage attendance of Maria Gonzales in E3.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/>
              <a:t>Explain how he would use the spreadsheet to do this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/>
              <a:t>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Type in =d3/c3 [1] *100 </a:t>
            </a:r>
            <a:r>
              <a:rPr lang="en-US" sz="1400" b="1" dirty="0"/>
              <a:t>or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Type in =d3/c3 in e3 [1] Set the format to %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88" t="25559" r="26875" b="47247"/>
          <a:stretch/>
        </p:blipFill>
        <p:spPr bwMode="auto">
          <a:xfrm>
            <a:off x="818409" y="2590800"/>
            <a:ext cx="3753592" cy="1365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8089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363827"/>
              </p:ext>
            </p:extLst>
          </p:nvPr>
        </p:nvGraphicFramePr>
        <p:xfrm>
          <a:off x="720434" y="1066800"/>
          <a:ext cx="81949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4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2015 Sum 11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15370" y="1524000"/>
            <a:ext cx="8200030" cy="37548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/>
              <a:t>He now wants to add another 18 students to the spreadsheet.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/>
              <a:t>Explain how he could calculate the percentage attendance for each student by only using a computer mouse.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Click on E3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400" b="1" dirty="0" err="1">
                <a:solidFill>
                  <a:srgbClr val="FF0000"/>
                </a:solidFill>
              </a:rPr>
              <a:t>Manoeuvre</a:t>
            </a:r>
            <a:r>
              <a:rPr lang="en-US" sz="1400" b="1" dirty="0">
                <a:solidFill>
                  <a:srgbClr val="FF0000"/>
                </a:solidFill>
              </a:rPr>
              <a:t> to bottom right hand corner of cell Until black cross appears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Black cross dragged down to E22 (Autofill)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/>
              <a:t>Give two reasons, apart from cost, why computer models are often used instead of the real thing.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Less dangerous to use a model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it may take a long time to obtain results from the real thing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Real thing may be wasteful of materials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Real thing may be on too vast a scale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Easier to change data/variables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The real thing may be impossible to access/create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You can test predictions more easily/model and can make predictions more accurately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srgbClr val="FF0000"/>
                </a:solidFill>
              </a:rPr>
              <a:t>You can ask many </a:t>
            </a:r>
            <a:r>
              <a:rPr lang="en-US" sz="1400" b="1" dirty="0" err="1">
                <a:solidFill>
                  <a:srgbClr val="FF0000"/>
                </a:solidFill>
              </a:rPr>
              <a:t>whatif</a:t>
            </a:r>
            <a:r>
              <a:rPr lang="en-US" sz="1400" b="1" dirty="0">
                <a:solidFill>
                  <a:srgbClr val="FF0000"/>
                </a:solidFill>
              </a:rPr>
              <a:t> questions which would be impractical in real life </a:t>
            </a:r>
          </a:p>
        </p:txBody>
      </p:sp>
    </p:spTree>
    <p:extLst>
      <p:ext uri="{BB962C8B-B14F-4D97-AF65-F5344CB8AC3E}">
        <p14:creationId xmlns:p14="http://schemas.microsoft.com/office/powerpoint/2010/main" val="3911571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880804"/>
              </p:ext>
            </p:extLst>
          </p:nvPr>
        </p:nvGraphicFramePr>
        <p:xfrm>
          <a:off x="720434" y="1066800"/>
          <a:ext cx="81949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4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2015 Sum 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0468" y="1600200"/>
            <a:ext cx="8214023" cy="47705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 Explain how a VLOOKUP function works, using the example of VLOOKUP(</a:t>
            </a:r>
            <a:r>
              <a:rPr lang="en-US" sz="1600" b="1" dirty="0">
                <a:solidFill>
                  <a:srgbClr val="00B0F0"/>
                </a:solidFill>
              </a:rPr>
              <a:t>38</a:t>
            </a:r>
            <a:r>
              <a:rPr lang="en-US" sz="1600" b="1" dirty="0">
                <a:solidFill>
                  <a:srgbClr val="7030A0"/>
                </a:solidFill>
              </a:rPr>
              <a:t>,A2:C10</a:t>
            </a:r>
            <a:r>
              <a:rPr lang="en-US" sz="1600" b="1" dirty="0"/>
              <a:t>,</a:t>
            </a:r>
            <a:r>
              <a:rPr lang="en-US" sz="1600" b="1" dirty="0">
                <a:solidFill>
                  <a:srgbClr val="00B050"/>
                </a:solidFill>
              </a:rPr>
              <a:t>3</a:t>
            </a:r>
            <a:r>
              <a:rPr lang="en-US" sz="1600" b="1" dirty="0"/>
              <a:t>,</a:t>
            </a:r>
            <a:r>
              <a:rPr lang="en-US" sz="1600" b="1" dirty="0">
                <a:solidFill>
                  <a:schemeClr val="accent2"/>
                </a:solidFill>
              </a:rPr>
              <a:t>FALSE</a:t>
            </a:r>
            <a:r>
              <a:rPr lang="en-US" sz="1600" b="1" dirty="0"/>
              <a:t>).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/>
              <a:t>Searches for the value </a:t>
            </a:r>
            <a:r>
              <a:rPr lang="en-US" sz="1600" b="1" dirty="0">
                <a:solidFill>
                  <a:srgbClr val="00B0F0"/>
                </a:solidFill>
              </a:rPr>
              <a:t>38 (lookup Value)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/>
              <a:t>Searches in the range </a:t>
            </a:r>
            <a:r>
              <a:rPr lang="en-US" sz="1600" b="1" dirty="0">
                <a:solidFill>
                  <a:srgbClr val="7030A0"/>
                </a:solidFill>
              </a:rPr>
              <a:t>A2:C10 (Table Array)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/>
              <a:t>It returns the value that is </a:t>
            </a:r>
            <a:r>
              <a:rPr lang="en-US" sz="1600" b="1" dirty="0">
                <a:solidFill>
                  <a:srgbClr val="00B050"/>
                </a:solidFill>
              </a:rPr>
              <a:t>contained in the third column </a:t>
            </a:r>
            <a:r>
              <a:rPr lang="en-US" sz="1600" b="1" dirty="0"/>
              <a:t>of the range...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/>
              <a:t>…and on the same row as the lookup value if it’s </a:t>
            </a:r>
            <a:r>
              <a:rPr lang="en-US" sz="1600" b="1" dirty="0">
                <a:solidFill>
                  <a:schemeClr val="accent2"/>
                </a:solidFill>
              </a:rPr>
              <a:t>an exact match of 38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1600" b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A spreadsheet contains the following data and formula. Explain why the cell H2 might not contain James. Suggest the value that would be contained in that cell, giving reasons why.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>
              <a:solidFill>
                <a:srgbClr val="FF0000"/>
              </a:solidFill>
            </a:endParaRPr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41" r="62026" b="50000"/>
          <a:stretch/>
        </p:blipFill>
        <p:spPr bwMode="auto">
          <a:xfrm>
            <a:off x="730468" y="3985468"/>
            <a:ext cx="3993932" cy="2219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4837479" y="3980520"/>
            <a:ext cx="4107012" cy="1169551"/>
          </a:xfrm>
          <a:prstGeom prst="rect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marL="228600" indent="-228600" fontAlgn="auto">
              <a:spcBef>
                <a:spcPts val="0"/>
              </a:spcBef>
              <a:spcAft>
                <a:spcPts val="0"/>
              </a:spcAft>
              <a:buAutoNum type="arabicParenR"/>
              <a:defRPr/>
            </a:pPr>
            <a:r>
              <a:rPr lang="en-US" sz="1400" b="1" dirty="0">
                <a:solidFill>
                  <a:srgbClr val="FF0000"/>
                </a:solidFill>
              </a:rPr>
              <a:t>There is no return value/FALSE/0… …to force an exact match</a:t>
            </a:r>
          </a:p>
          <a:p>
            <a:pPr marL="228600" indent="-228600" fontAlgn="auto">
              <a:spcBef>
                <a:spcPts val="0"/>
              </a:spcBef>
              <a:spcAft>
                <a:spcPts val="0"/>
              </a:spcAft>
              <a:buAutoNum type="arabicParenR"/>
              <a:defRPr/>
            </a:pPr>
            <a:r>
              <a:rPr lang="en-US" sz="1400" b="1" dirty="0">
                <a:solidFill>
                  <a:srgbClr val="FF0000"/>
                </a:solidFill>
              </a:rPr>
              <a:t>The data is not sorted on column D.</a:t>
            </a:r>
          </a:p>
          <a:p>
            <a:pPr marL="228600" indent="-228600">
              <a:buFontTx/>
              <a:buAutoNum type="arabicParenR"/>
              <a:defRPr/>
            </a:pPr>
            <a:r>
              <a:rPr lang="en-US" sz="1400" b="1" dirty="0">
                <a:solidFill>
                  <a:srgbClr val="FF0000"/>
                </a:solidFill>
              </a:rPr>
              <a:t>So only an approximate match will be made .</a:t>
            </a:r>
          </a:p>
          <a:p>
            <a:pPr marL="228600" indent="-228600">
              <a:buFontTx/>
              <a:buAutoNum type="arabicParenR"/>
              <a:defRPr/>
            </a:pPr>
            <a:r>
              <a:rPr lang="en-US" sz="1400" b="1" dirty="0">
                <a:solidFill>
                  <a:srgbClr val="FF0000"/>
                </a:solidFill>
              </a:rPr>
              <a:t>So formula will return David 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63" t="19499" r="63163" b="48583"/>
          <a:stretch/>
        </p:blipFill>
        <p:spPr bwMode="auto">
          <a:xfrm>
            <a:off x="3951654" y="5415299"/>
            <a:ext cx="2338216" cy="124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6875" r="62187" b="54803"/>
          <a:stretch/>
        </p:blipFill>
        <p:spPr bwMode="auto">
          <a:xfrm>
            <a:off x="6347111" y="5411745"/>
            <a:ext cx="2684808" cy="1256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4062350" y="4527256"/>
            <a:ext cx="603662" cy="29709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5988038" y="5562600"/>
            <a:ext cx="301831" cy="29709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8534400" y="5734897"/>
            <a:ext cx="497519" cy="29709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4044442" y="5586350"/>
            <a:ext cx="301831" cy="1072762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4495800" y="5257713"/>
            <a:ext cx="1008245" cy="53638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Numbers sorted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53200" y="5257712"/>
            <a:ext cx="1136315" cy="53638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False – Exact Match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17322" y="5411744"/>
            <a:ext cx="427169" cy="180257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5362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724423"/>
              </p:ext>
            </p:extLst>
          </p:nvPr>
        </p:nvGraphicFramePr>
        <p:xfrm>
          <a:off x="720434" y="1066800"/>
          <a:ext cx="81949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4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2015 Sum 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0468" y="1600200"/>
            <a:ext cx="8214023" cy="46166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 Explain how a </a:t>
            </a:r>
            <a:r>
              <a:rPr lang="en-US" sz="1600" b="1" dirty="0" err="1"/>
              <a:t>SUMIF</a:t>
            </a:r>
            <a:r>
              <a:rPr lang="en-US" sz="1600" b="1" dirty="0"/>
              <a:t> function works, using the example of </a:t>
            </a:r>
            <a:r>
              <a:rPr lang="en-US" sz="1600" b="1" dirty="0" err="1"/>
              <a:t>SUMIF</a:t>
            </a:r>
            <a:r>
              <a:rPr lang="en-US" sz="1600" b="1" dirty="0"/>
              <a:t>(</a:t>
            </a:r>
            <a:r>
              <a:rPr lang="en-US" sz="1600" b="1" dirty="0">
                <a:solidFill>
                  <a:srgbClr val="0070C0"/>
                </a:solidFill>
              </a:rPr>
              <a:t>A1:A6</a:t>
            </a:r>
            <a:r>
              <a:rPr lang="en-US" sz="1600" b="1" dirty="0"/>
              <a:t>, </a:t>
            </a:r>
            <a:r>
              <a:rPr lang="en-US" sz="1600" b="1" dirty="0">
                <a:solidFill>
                  <a:srgbClr val="7030A0"/>
                </a:solidFill>
              </a:rPr>
              <a:t>“&gt;29”</a:t>
            </a:r>
            <a:r>
              <a:rPr lang="en-US" sz="1600" b="1" dirty="0"/>
              <a:t>, </a:t>
            </a:r>
            <a:r>
              <a:rPr lang="en-US" sz="1600" b="1" dirty="0">
                <a:solidFill>
                  <a:srgbClr val="00B050"/>
                </a:solidFill>
              </a:rPr>
              <a:t>B1:B6</a:t>
            </a:r>
            <a:r>
              <a:rPr lang="en-US" sz="1600" b="1" dirty="0"/>
              <a:t>).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600" b="1" dirty="0">
              <a:solidFill>
                <a:srgbClr val="FF0000"/>
              </a:solidFill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FF0000"/>
                </a:solidFill>
              </a:rPr>
              <a:t>This formula searches for values in the </a:t>
            </a:r>
            <a:r>
              <a:rPr lang="en-US" sz="1600" b="1" dirty="0">
                <a:solidFill>
                  <a:srgbClr val="0070C0"/>
                </a:solidFill>
              </a:rPr>
              <a:t>range:  A1:A6</a:t>
            </a:r>
            <a:r>
              <a:rPr lang="en-US" sz="1600" b="1" dirty="0"/>
              <a:t>…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FF0000"/>
                </a:solidFill>
              </a:rPr>
              <a:t>…which match the </a:t>
            </a:r>
            <a:r>
              <a:rPr lang="en-US" sz="1600" b="1" dirty="0">
                <a:solidFill>
                  <a:srgbClr val="7030A0"/>
                </a:solidFill>
              </a:rPr>
              <a:t>criterion &gt;29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FF0000"/>
                </a:solidFill>
              </a:rPr>
              <a:t> It totals the value in the corresponding cells of the </a:t>
            </a:r>
            <a:r>
              <a:rPr lang="en-US" sz="1600" b="1" dirty="0">
                <a:solidFill>
                  <a:srgbClr val="00B050"/>
                </a:solidFill>
              </a:rPr>
              <a:t>SUM range B1:B6</a:t>
            </a:r>
            <a:r>
              <a:rPr lang="en-US" sz="1600" b="1" dirty="0"/>
              <a:t>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A spreadsheet contains the following data and formula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Explain why the cell G2 does not produce the expected value of 30.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FF0000"/>
                </a:solidFill>
              </a:rPr>
              <a:t> &gt;31&lt;35 is not a valid logical test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Write down a formula which would total the Days holiday due to those workers who had worked for the company for </a:t>
            </a:r>
            <a:r>
              <a:rPr lang="en-US" sz="1600" b="1" dirty="0">
                <a:solidFill>
                  <a:srgbClr val="FF0000"/>
                </a:solidFill>
              </a:rPr>
              <a:t>more than 31 months </a:t>
            </a:r>
            <a:r>
              <a:rPr lang="en-US" sz="1600" b="1" dirty="0"/>
              <a:t>but </a:t>
            </a:r>
            <a:r>
              <a:rPr lang="en-US" sz="1600" b="1" dirty="0">
                <a:solidFill>
                  <a:srgbClr val="FF0000"/>
                </a:solidFill>
              </a:rPr>
              <a:t>less than 35 months</a:t>
            </a:r>
            <a:r>
              <a:rPr lang="en-US" sz="1600" b="1" dirty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</a:rPr>
              <a:t>=</a:t>
            </a:r>
            <a:r>
              <a:rPr lang="en-US" sz="1600" b="1" dirty="0" err="1">
                <a:solidFill>
                  <a:srgbClr val="FF0000"/>
                </a:solidFill>
              </a:rPr>
              <a:t>SUMIF</a:t>
            </a:r>
            <a:r>
              <a:rPr lang="en-US" sz="1600" b="1" dirty="0">
                <a:solidFill>
                  <a:srgbClr val="FF0000"/>
                </a:solidFill>
              </a:rPr>
              <a:t>(</a:t>
            </a:r>
            <a:r>
              <a:rPr lang="en-US" sz="1600" b="1" dirty="0">
                <a:solidFill>
                  <a:srgbClr val="0070C0"/>
                </a:solidFill>
              </a:rPr>
              <a:t>D2:D10,</a:t>
            </a:r>
            <a:r>
              <a:rPr lang="en-US" sz="1600" b="1" dirty="0">
                <a:solidFill>
                  <a:srgbClr val="7030A0"/>
                </a:solidFill>
              </a:rPr>
              <a:t>“&gt;31”</a:t>
            </a:r>
            <a:r>
              <a:rPr lang="en-US" sz="1600" b="1" dirty="0">
                <a:solidFill>
                  <a:srgbClr val="00B050"/>
                </a:solidFill>
              </a:rPr>
              <a:t>,F2:F10</a:t>
            </a:r>
            <a:r>
              <a:rPr lang="en-US" sz="1600" b="1" dirty="0">
                <a:solidFill>
                  <a:srgbClr val="FF0000"/>
                </a:solidFill>
              </a:rPr>
              <a:t>)   </a:t>
            </a:r>
            <a:r>
              <a:rPr lang="en-US" sz="1600" b="1" dirty="0"/>
              <a:t>– (minus sign) </a:t>
            </a:r>
            <a:r>
              <a:rPr lang="en-US" sz="1600" b="1" dirty="0" err="1">
                <a:solidFill>
                  <a:srgbClr val="FF0000"/>
                </a:solidFill>
              </a:rPr>
              <a:t>SUMIF</a:t>
            </a:r>
            <a:r>
              <a:rPr lang="en-US" sz="1600" b="1" dirty="0">
                <a:solidFill>
                  <a:srgbClr val="FF0000"/>
                </a:solidFill>
              </a:rPr>
              <a:t>(</a:t>
            </a:r>
            <a:r>
              <a:rPr lang="en-US" sz="1600" b="1" dirty="0">
                <a:solidFill>
                  <a:srgbClr val="0070C0"/>
                </a:solidFill>
              </a:rPr>
              <a:t>D2:D10,</a:t>
            </a:r>
            <a:r>
              <a:rPr lang="en-US" sz="1600" b="1" dirty="0">
                <a:solidFill>
                  <a:srgbClr val="7030A0"/>
                </a:solidFill>
              </a:rPr>
              <a:t>“&gt;=35”</a:t>
            </a:r>
            <a:r>
              <a:rPr lang="en-US" sz="1600" b="1" dirty="0">
                <a:solidFill>
                  <a:srgbClr val="00B050"/>
                </a:solidFill>
              </a:rPr>
              <a:t>,F2:F10</a:t>
            </a:r>
            <a:r>
              <a:rPr lang="en-US" sz="1600" b="1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96" t="35376" r="28482" b="53325"/>
          <a:stretch/>
        </p:blipFill>
        <p:spPr bwMode="auto">
          <a:xfrm>
            <a:off x="838199" y="3429000"/>
            <a:ext cx="5464629" cy="860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0798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696984"/>
              </p:ext>
            </p:extLst>
          </p:nvPr>
        </p:nvGraphicFramePr>
        <p:xfrm>
          <a:off x="720434" y="1066800"/>
          <a:ext cx="81949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4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2016 Specimen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0468" y="1524000"/>
            <a:ext cx="8214023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A holiday company uses spreadsheets to </a:t>
            </a:r>
            <a:r>
              <a:rPr lang="en-US" sz="1600" b="1" dirty="0" err="1"/>
              <a:t>organise</a:t>
            </a:r>
            <a:r>
              <a:rPr lang="en-US" sz="1600" b="1" dirty="0"/>
              <a:t> the holidays they offer for scuba divers. In the </a:t>
            </a:r>
            <a:r>
              <a:rPr lang="en-US" sz="1600" b="1" dirty="0">
                <a:solidFill>
                  <a:srgbClr val="FF0000"/>
                </a:solidFill>
              </a:rPr>
              <a:t>first two columns</a:t>
            </a:r>
            <a:r>
              <a:rPr lang="en-US" sz="1600" b="1" dirty="0"/>
              <a:t>, there is a list of </a:t>
            </a:r>
            <a:r>
              <a:rPr lang="en-US" sz="1600" b="1" dirty="0">
                <a:solidFill>
                  <a:srgbClr val="FF0000"/>
                </a:solidFill>
              </a:rPr>
              <a:t>holiday codes </a:t>
            </a:r>
            <a:r>
              <a:rPr lang="en-US" sz="1600" b="1" dirty="0"/>
              <a:t>together with the </a:t>
            </a:r>
            <a:r>
              <a:rPr lang="en-US" sz="1600" b="1" dirty="0">
                <a:solidFill>
                  <a:srgbClr val="FF0000"/>
                </a:solidFill>
              </a:rPr>
              <a:t>accommodation offered</a:t>
            </a:r>
            <a:r>
              <a:rPr lang="en-US" sz="1600" b="1" dirty="0"/>
              <a:t>. 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4" t="33299" r="22575" b="41627"/>
          <a:stretch/>
        </p:blipFill>
        <p:spPr bwMode="auto">
          <a:xfrm>
            <a:off x="1066800" y="2590800"/>
            <a:ext cx="7422932" cy="1586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782084" y="5638800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. 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746390" y="4343400"/>
            <a:ext cx="8214023" cy="20621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Explain what the formula in cell D2 does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Reads the contents of </a:t>
            </a:r>
            <a:r>
              <a:rPr lang="en-US" sz="1600" b="1" dirty="0">
                <a:solidFill>
                  <a:srgbClr val="0070C0"/>
                </a:solidFill>
              </a:rPr>
              <a:t>E2/BB (Lookup Value)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Compares with the contents of </a:t>
            </a:r>
            <a:r>
              <a:rPr lang="en-US" sz="1600" b="1" dirty="0">
                <a:solidFill>
                  <a:srgbClr val="7030A0"/>
                </a:solidFill>
              </a:rPr>
              <a:t>A2:B8 (Table Array)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until it finds the first matching value from the </a:t>
            </a:r>
            <a:r>
              <a:rPr lang="en-US" sz="1600" b="1" dirty="0">
                <a:solidFill>
                  <a:srgbClr val="00B050"/>
                </a:solidFill>
              </a:rPr>
              <a:t>column index (2)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It records the corresponding value from </a:t>
            </a:r>
            <a:r>
              <a:rPr lang="en-US" sz="1600" b="1" dirty="0">
                <a:solidFill>
                  <a:srgbClr val="00B050"/>
                </a:solidFill>
              </a:rPr>
              <a:t>column 2</a:t>
            </a:r>
            <a:r>
              <a:rPr lang="en-US" sz="1600" b="1" dirty="0"/>
              <a:t> of the </a:t>
            </a:r>
            <a:r>
              <a:rPr lang="en-US" sz="1600" b="1" dirty="0">
                <a:solidFill>
                  <a:srgbClr val="7030A0"/>
                </a:solidFill>
              </a:rPr>
              <a:t>range A2:B8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</a:rPr>
              <a:t>E2 contains BB – produces /records Bed and breakfast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What type of holiday would you expect to see in </a:t>
            </a:r>
            <a:r>
              <a:rPr lang="en-US" sz="1600" b="1" dirty="0">
                <a:solidFill>
                  <a:srgbClr val="FF0000"/>
                </a:solidFill>
              </a:rPr>
              <a:t>D5</a:t>
            </a:r>
            <a:r>
              <a:rPr lang="en-US" sz="1600" b="1" dirty="0"/>
              <a:t>? </a:t>
            </a:r>
            <a:r>
              <a:rPr lang="en-US" sz="1600" b="1" dirty="0">
                <a:solidFill>
                  <a:srgbClr val="FF0000"/>
                </a:solidFill>
              </a:rPr>
              <a:t>Flights only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51" t="35179" r="52089" b="59883"/>
          <a:stretch/>
        </p:blipFill>
        <p:spPr bwMode="auto">
          <a:xfrm>
            <a:off x="3505200" y="2209800"/>
            <a:ext cx="2531007" cy="37632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038600" y="2971800"/>
            <a:ext cx="1447800" cy="2286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343400" y="2590800"/>
            <a:ext cx="0" cy="381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715001" y="2283663"/>
            <a:ext cx="228600" cy="24224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4495800" y="2283663"/>
            <a:ext cx="266700" cy="24224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4778266" y="2283663"/>
            <a:ext cx="936734" cy="2286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5648945" y="2978163"/>
            <a:ext cx="266700" cy="24224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1295400" y="2971800"/>
            <a:ext cx="2209800" cy="120558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2209800" y="2590800"/>
            <a:ext cx="914400" cy="168134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/>
          <p:cNvSpPr txBox="1"/>
          <p:nvPr/>
        </p:nvSpPr>
        <p:spPr>
          <a:xfrm>
            <a:off x="929721" y="2627411"/>
            <a:ext cx="1013752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Table Array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000724"/>
            <a:ext cx="1447800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Lookup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3194" y="2627208"/>
            <a:ext cx="1438790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Column index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98296" y="3155181"/>
            <a:ext cx="2459304" cy="20516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1170648" y="3657600"/>
            <a:ext cx="2459304" cy="20516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664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558388"/>
              </p:ext>
            </p:extLst>
          </p:nvPr>
        </p:nvGraphicFramePr>
        <p:xfrm>
          <a:off x="720434" y="1066800"/>
          <a:ext cx="81949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4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2016 Specimen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0468" y="1524000"/>
            <a:ext cx="8214023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Also in the spreadsheet, there are formulae to manipulate the data stored elsewhere in the spreadsheet.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 There is also space to calculate the number of weeks and days each type of holiday has been booked for. </a:t>
            </a:r>
          </a:p>
        </p:txBody>
      </p:sp>
      <p:sp>
        <p:nvSpPr>
          <p:cNvPr id="2" name="Rectangle 1"/>
          <p:cNvSpPr/>
          <p:nvPr/>
        </p:nvSpPr>
        <p:spPr>
          <a:xfrm>
            <a:off x="782084" y="5638800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. 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7" t="22209" r="2012" b="13851"/>
          <a:stretch/>
        </p:blipFill>
        <p:spPr bwMode="auto">
          <a:xfrm>
            <a:off x="730467" y="3124200"/>
            <a:ext cx="7581019" cy="32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3857110" y="4373940"/>
            <a:ext cx="5134490" cy="20621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Explain what the formula in cell </a:t>
            </a:r>
            <a:r>
              <a:rPr lang="en-US" sz="1600" b="1" dirty="0">
                <a:solidFill>
                  <a:srgbClr val="FF0000"/>
                </a:solidFill>
              </a:rPr>
              <a:t>F2</a:t>
            </a:r>
            <a:r>
              <a:rPr lang="en-US" sz="1600" b="1" dirty="0"/>
              <a:t> does.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/>
              <a:t>It looks through the cells </a:t>
            </a:r>
            <a:r>
              <a:rPr lang="en-US" sz="1600" b="1" dirty="0">
                <a:solidFill>
                  <a:srgbClr val="0070C0"/>
                </a:solidFill>
              </a:rPr>
              <a:t>B12 to B22 (Range)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/>
              <a:t>It adds the contents of </a:t>
            </a:r>
            <a:r>
              <a:rPr lang="en-US" sz="1600" b="1" dirty="0">
                <a:solidFill>
                  <a:srgbClr val="00B050"/>
                </a:solidFill>
              </a:rPr>
              <a:t>C12 to C22 (</a:t>
            </a:r>
            <a:r>
              <a:rPr lang="en-US" sz="1600" b="1" dirty="0" err="1">
                <a:solidFill>
                  <a:srgbClr val="00B050"/>
                </a:solidFill>
              </a:rPr>
              <a:t>SumRange</a:t>
            </a:r>
            <a:r>
              <a:rPr lang="en-US" sz="1600" b="1" dirty="0">
                <a:solidFill>
                  <a:srgbClr val="00B050"/>
                </a:solidFill>
              </a:rPr>
              <a:t>)</a:t>
            </a:r>
            <a:r>
              <a:rPr lang="en-US" sz="1600" b="1" dirty="0"/>
              <a:t> where…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/>
              <a:t>The corresponding value of </a:t>
            </a:r>
            <a:r>
              <a:rPr lang="en-US" sz="1600" b="1" dirty="0">
                <a:solidFill>
                  <a:srgbClr val="0070C0"/>
                </a:solidFill>
              </a:rPr>
              <a:t>B12 to B22 </a:t>
            </a:r>
            <a:r>
              <a:rPr lang="en-US" sz="1600" b="1" dirty="0"/>
              <a:t>is equal to </a:t>
            </a:r>
            <a:r>
              <a:rPr lang="en-US" sz="1600" b="1" dirty="0">
                <a:solidFill>
                  <a:srgbClr val="7030A0"/>
                </a:solidFill>
              </a:rPr>
              <a:t>E2 (Criteria)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1600" b="1" dirty="0">
              <a:solidFill>
                <a:srgbClr val="7030A0"/>
              </a:solidFill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FF0000"/>
                </a:solidFill>
              </a:rPr>
              <a:t>The value in F2 will be 28.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7" t="35776" r="11502" b="60030"/>
          <a:stretch/>
        </p:blipFill>
        <p:spPr bwMode="auto">
          <a:xfrm>
            <a:off x="5181600" y="2726071"/>
            <a:ext cx="3429001" cy="3338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5029200" y="3352800"/>
            <a:ext cx="1524000" cy="2286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943600" y="3059941"/>
            <a:ext cx="0" cy="29285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072952" y="2778706"/>
            <a:ext cx="228600" cy="2286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7353299" y="2778706"/>
            <a:ext cx="1257301" cy="2286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5929952" y="2778706"/>
            <a:ext cx="1102056" cy="2286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4343400" y="3359873"/>
            <a:ext cx="228600" cy="2286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1600200" y="4849503"/>
            <a:ext cx="551028" cy="148727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2599809" y="4856576"/>
            <a:ext cx="448191" cy="148020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1562100" y="5000625"/>
            <a:ext cx="1524000" cy="12957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1562100" y="6038850"/>
            <a:ext cx="1524000" cy="12957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3482048" y="3313211"/>
            <a:ext cx="791090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Criteria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010" y="4464914"/>
            <a:ext cx="791090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95010" y="4464914"/>
            <a:ext cx="1187038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Sum Range</a:t>
            </a:r>
          </a:p>
        </p:txBody>
      </p:sp>
    </p:spTree>
    <p:extLst>
      <p:ext uri="{BB962C8B-B14F-4D97-AF65-F5344CB8AC3E}">
        <p14:creationId xmlns:p14="http://schemas.microsoft.com/office/powerpoint/2010/main" val="1953300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7" t="16223" r="2165" b="18661"/>
          <a:stretch/>
        </p:blipFill>
        <p:spPr bwMode="auto">
          <a:xfrm>
            <a:off x="730467" y="1676400"/>
            <a:ext cx="8214023" cy="3575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130615"/>
              </p:ext>
            </p:extLst>
          </p:nvPr>
        </p:nvGraphicFramePr>
        <p:xfrm>
          <a:off x="720434" y="1066800"/>
          <a:ext cx="81949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4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2016 Specimen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782084" y="5638800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. 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3745480" y="3667780"/>
            <a:ext cx="3722120" cy="8002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What value would you expect to see in F5? </a:t>
            </a:r>
            <a:r>
              <a:rPr lang="en-US" sz="1400" b="1" dirty="0"/>
              <a:t> </a:t>
            </a:r>
            <a:r>
              <a:rPr lang="en-US" sz="1600" b="1" dirty="0">
                <a:solidFill>
                  <a:srgbClr val="FF0000"/>
                </a:solidFill>
              </a:rPr>
              <a:t>21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86450" y="2478055"/>
            <a:ext cx="1700150" cy="12957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4675678" y="2429711"/>
            <a:ext cx="228600" cy="2286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1658772" y="3630000"/>
            <a:ext cx="551028" cy="159833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2667000" y="3629999"/>
            <a:ext cx="448191" cy="159833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1591191" y="4191000"/>
            <a:ext cx="1524000" cy="12957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597725" y="5044515"/>
            <a:ext cx="1524000" cy="12957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/>
          <p:cNvSpPr txBox="1"/>
          <p:nvPr/>
        </p:nvSpPr>
        <p:spPr>
          <a:xfrm>
            <a:off x="3859780" y="2388951"/>
            <a:ext cx="791090" cy="307777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Criteria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022" y="3217980"/>
            <a:ext cx="791090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6054" y="3219675"/>
            <a:ext cx="1187038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bg1"/>
                </a:solidFill>
              </a:rPr>
              <a:t>Sum Range</a:t>
            </a:r>
          </a:p>
        </p:txBody>
      </p:sp>
      <p:pic>
        <p:nvPicPr>
          <p:cNvPr id="2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56" t="30406" r="46772" b="66803"/>
          <a:stretch/>
        </p:blipFill>
        <p:spPr bwMode="auto">
          <a:xfrm>
            <a:off x="4939179" y="2962492"/>
            <a:ext cx="1106122" cy="498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63" t="61600" r="69207" b="35032"/>
          <a:stretch/>
        </p:blipFill>
        <p:spPr bwMode="auto">
          <a:xfrm>
            <a:off x="3984459" y="5228334"/>
            <a:ext cx="2060842" cy="2828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6" t="76789" r="70494" b="19655"/>
          <a:stretch/>
        </p:blipFill>
        <p:spPr bwMode="auto">
          <a:xfrm>
            <a:off x="3984459" y="4686974"/>
            <a:ext cx="2060842" cy="3321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4" name="Straight Arrow Connector 3"/>
          <p:cNvCxnSpPr/>
          <p:nvPr/>
        </p:nvCxnSpPr>
        <p:spPr>
          <a:xfrm flipH="1" flipV="1">
            <a:off x="3200400" y="4320570"/>
            <a:ext cx="659380" cy="5324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3153992" y="5044516"/>
            <a:ext cx="705788" cy="32525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4947160" y="2577447"/>
            <a:ext cx="272540" cy="3850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606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249842"/>
              </p:ext>
            </p:extLst>
          </p:nvPr>
        </p:nvGraphicFramePr>
        <p:xfrm>
          <a:off x="720434" y="1066800"/>
          <a:ext cx="81949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4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2016 Specimen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782084" y="5638800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. </a:t>
            </a:r>
            <a:endParaRPr lang="en-GB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7" t="16223" r="2165" b="18661"/>
          <a:stretch/>
        </p:blipFill>
        <p:spPr bwMode="auto">
          <a:xfrm>
            <a:off x="730467" y="1676400"/>
            <a:ext cx="8214023" cy="3575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7086600" y="2057400"/>
            <a:ext cx="1014350" cy="12957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6400801" y="3098755"/>
            <a:ext cx="2543690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/>
              <a:t>What formula would you expect to see in G2? </a:t>
            </a:r>
            <a:r>
              <a:rPr lang="en-US" sz="1400" b="1" dirty="0">
                <a:solidFill>
                  <a:srgbClr val="FF0000"/>
                </a:solidFill>
              </a:rPr>
              <a:t>= INT(F2/7)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solidFill>
                  <a:srgbClr val="FF0000"/>
                </a:solidFill>
              </a:rPr>
              <a:t>This formula will divide the days by 7.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solidFill>
                  <a:srgbClr val="FF0000"/>
                </a:solidFill>
              </a:rPr>
              <a:t>INT will round down the number to its nearest </a:t>
            </a:r>
            <a:r>
              <a:rPr lang="en-US" sz="1400" b="1" dirty="0" err="1">
                <a:solidFill>
                  <a:srgbClr val="FF0000"/>
                </a:solidFill>
              </a:rPr>
              <a:t>Interger</a:t>
            </a:r>
            <a:r>
              <a:rPr lang="en-US" sz="1400" b="1" dirty="0">
                <a:solidFill>
                  <a:srgbClr val="FF0000"/>
                </a:solidFill>
              </a:rPr>
              <a:t> Value.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86748" y="1958370"/>
            <a:ext cx="1676102" cy="101343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3373489" y="3146255"/>
            <a:ext cx="2772290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/>
              <a:t>The </a:t>
            </a:r>
            <a:r>
              <a:rPr lang="en-US" sz="1400" b="1" dirty="0" err="1"/>
              <a:t>SUMIF</a:t>
            </a:r>
            <a:r>
              <a:rPr lang="en-US" sz="1400" b="1" dirty="0"/>
              <a:t> will work out the total number of days</a:t>
            </a:r>
            <a:endParaRPr lang="en-US" sz="1400" b="1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7672646" y="2272563"/>
            <a:ext cx="0" cy="69923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4648200" y="2673993"/>
            <a:ext cx="697577" cy="47226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582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249842"/>
              </p:ext>
            </p:extLst>
          </p:nvPr>
        </p:nvGraphicFramePr>
        <p:xfrm>
          <a:off x="720434" y="1066800"/>
          <a:ext cx="819496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4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6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2016 Specimen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782084" y="5638800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. </a:t>
            </a:r>
            <a:endParaRPr lang="en-GB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7" t="16223" r="2165" b="18661"/>
          <a:stretch/>
        </p:blipFill>
        <p:spPr bwMode="auto">
          <a:xfrm>
            <a:off x="730467" y="1676400"/>
            <a:ext cx="8214023" cy="3575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8077200" y="2071186"/>
            <a:ext cx="847498" cy="12957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6400801" y="3098755"/>
            <a:ext cx="2543690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/>
              <a:t>What formula would you expect to see in H2? </a:t>
            </a:r>
            <a:r>
              <a:rPr lang="en-US" sz="1400" b="1" dirty="0">
                <a:solidFill>
                  <a:srgbClr val="FF0000"/>
                </a:solidFill>
              </a:rPr>
              <a:t>=(G2*7)-F2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solidFill>
                  <a:srgbClr val="FF0000"/>
                </a:solidFill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solidFill>
                  <a:srgbClr val="FF0000"/>
                </a:solidFill>
              </a:rPr>
              <a:t>This formula will work out the number of days.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/>
              <a:t>For example in </a:t>
            </a:r>
            <a:r>
              <a:rPr lang="en-US" sz="1400" b="1" dirty="0">
                <a:solidFill>
                  <a:srgbClr val="FF0000"/>
                </a:solidFill>
              </a:rPr>
              <a:t>F2</a:t>
            </a:r>
            <a:r>
              <a:rPr lang="en-US" sz="1400" b="1" dirty="0"/>
              <a:t> if the value is </a:t>
            </a:r>
            <a:r>
              <a:rPr lang="en-US" sz="1400" b="1" dirty="0">
                <a:solidFill>
                  <a:srgbClr val="FF0000"/>
                </a:solidFill>
              </a:rPr>
              <a:t>15</a:t>
            </a:r>
            <a:r>
              <a:rPr lang="en-US" sz="1400" b="1" dirty="0"/>
              <a:t> then the </a:t>
            </a:r>
            <a:r>
              <a:rPr lang="en-US" sz="1400" b="1" dirty="0">
                <a:solidFill>
                  <a:srgbClr val="FF0000"/>
                </a:solidFill>
              </a:rPr>
              <a:t>number of weeks will be 2</a:t>
            </a:r>
            <a:r>
              <a:rPr lang="en-US" sz="1400" b="1" dirty="0"/>
              <a:t> and </a:t>
            </a:r>
            <a:r>
              <a:rPr lang="en-US" sz="1400" b="1" dirty="0">
                <a:solidFill>
                  <a:srgbClr val="FF0000"/>
                </a:solidFill>
              </a:rPr>
              <a:t>the days will be 1</a:t>
            </a:r>
            <a:r>
              <a:rPr lang="en-US" sz="1400" b="1" dirty="0"/>
              <a:t>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8500949" y="2272563"/>
            <a:ext cx="0" cy="69923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0" t="19636" r="57143" b="64156"/>
          <a:stretch/>
        </p:blipFill>
        <p:spPr bwMode="auto">
          <a:xfrm>
            <a:off x="3814715" y="3823955"/>
            <a:ext cx="2045525" cy="12350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3276600" y="5238271"/>
            <a:ext cx="1219200" cy="523220"/>
          </a:xfrm>
          <a:prstGeom prst="rect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solidFill>
                  <a:srgbClr val="FF0000"/>
                </a:solidFill>
              </a:rPr>
              <a:t>Total Number of Days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4191000" y="4648200"/>
            <a:ext cx="0" cy="492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677423" y="5359805"/>
            <a:ext cx="1219200" cy="11695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solidFill>
                  <a:srgbClr val="FF0000"/>
                </a:solidFill>
              </a:rPr>
              <a:t>To work out the days you first have multiply the weeks by 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4600" y="5359805"/>
            <a:ext cx="1905000" cy="11695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solidFill>
                  <a:srgbClr val="FF0000"/>
                </a:solidFill>
              </a:rPr>
              <a:t>Then you have to subtract the total number of days (F2)  from the first part of the formula.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5323" y="5486400"/>
            <a:ext cx="4279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373582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5629</TotalTime>
  <Words>1323</Words>
  <Application>Microsoft Office PowerPoint</Application>
  <PresentationFormat>On-screen Show (4:3)</PresentationFormat>
  <Paragraphs>176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yahmad</dc:creator>
  <cp:lastModifiedBy>Yumna Beltagui</cp:lastModifiedBy>
  <cp:revision>349</cp:revision>
  <cp:lastPrinted>2016-05-12T09:24:58Z</cp:lastPrinted>
  <dcterms:created xsi:type="dcterms:W3CDTF">2006-08-16T00:00:00Z</dcterms:created>
  <dcterms:modified xsi:type="dcterms:W3CDTF">2020-06-15T12:06:21Z</dcterms:modified>
</cp:coreProperties>
</file>