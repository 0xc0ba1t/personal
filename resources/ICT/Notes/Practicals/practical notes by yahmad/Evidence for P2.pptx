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322" r:id="rId2"/>
    <p:sldId id="256" r:id="rId3"/>
    <p:sldId id="320" r:id="rId4"/>
    <p:sldId id="321" r:id="rId5"/>
    <p:sldId id="323" r:id="rId6"/>
    <p:sldId id="324" r:id="rId7"/>
    <p:sldId id="325" r:id="rId8"/>
    <p:sldId id="327" r:id="rId9"/>
    <p:sldId id="326" r:id="rId10"/>
    <p:sldId id="328" r:id="rId11"/>
    <p:sldId id="329" r:id="rId12"/>
    <p:sldId id="332" r:id="rId13"/>
    <p:sldId id="336" r:id="rId14"/>
    <p:sldId id="330" r:id="rId15"/>
    <p:sldId id="333" r:id="rId16"/>
    <p:sldId id="334" r:id="rId17"/>
    <p:sldId id="335" r:id="rId18"/>
    <p:sldId id="337" r:id="rId19"/>
    <p:sldId id="338"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DCDB"/>
    <a:srgbClr val="000000"/>
    <a:srgbClr val="FF3399"/>
    <a:srgbClr val="EBF1DE"/>
    <a:srgbClr val="35EB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98822" autoAdjust="0"/>
  </p:normalViewPr>
  <p:slideViewPr>
    <p:cSldViewPr>
      <p:cViewPr varScale="1">
        <p:scale>
          <a:sx n="69" d="100"/>
          <a:sy n="69" d="100"/>
        </p:scale>
        <p:origin x="1132"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D9F8162-BBF5-4D5D-81D5-58587652D225}" type="datetimeFigureOut">
              <a:rPr lang="en-GB" smtClean="0"/>
              <a:t>21/10/2020</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1F0C4B4-5A53-4F0D-9E58-25243E225B3D}" type="slidenum">
              <a:rPr lang="en-GB" smtClean="0"/>
              <a:t>‹#›</a:t>
            </a:fld>
            <a:endParaRPr lang="en-GB"/>
          </a:p>
        </p:txBody>
      </p:sp>
    </p:spTree>
    <p:extLst>
      <p:ext uri="{BB962C8B-B14F-4D97-AF65-F5344CB8AC3E}">
        <p14:creationId xmlns:p14="http://schemas.microsoft.com/office/powerpoint/2010/main" val="13073734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54EDC9A-5564-49B4-A1C2-3D00A722941B}" type="datetimeFigureOut">
              <a:rPr lang="en-GB" smtClean="0"/>
              <a:t>21/10/2020</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596B04-3952-441D-AEF3-5138B0F0D92A}" type="slidenum">
              <a:rPr lang="en-GB" smtClean="0"/>
              <a:t>‹#›</a:t>
            </a:fld>
            <a:endParaRPr lang="en-GB"/>
          </a:p>
        </p:txBody>
      </p:sp>
    </p:spTree>
    <p:extLst>
      <p:ext uri="{BB962C8B-B14F-4D97-AF65-F5344CB8AC3E}">
        <p14:creationId xmlns:p14="http://schemas.microsoft.com/office/powerpoint/2010/main" val="579381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01700" y="1143000"/>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371600" y="5943600"/>
            <a:ext cx="2133600" cy="365125"/>
          </a:xfrm>
          <a:prstGeom prst="rect">
            <a:avLst/>
          </a:prstGeom>
        </p:spPr>
        <p:txBody>
          <a:bodyPr/>
          <a:lstStyle/>
          <a:p>
            <a:fld id="{1D8BD707-D9CF-40AE-B4C6-C98DA3205C09}" type="datetimeFigureOut">
              <a:rPr lang="en-US" smtClean="0"/>
              <a:pPr/>
              <a:t>10/21/2020</a:t>
            </a:fld>
            <a:endParaRPr lang="en-US"/>
          </a:p>
        </p:txBody>
      </p:sp>
      <p:sp>
        <p:nvSpPr>
          <p:cNvPr id="5" name="Footer Placeholder 4"/>
          <p:cNvSpPr>
            <a:spLocks noGrp="1"/>
          </p:cNvSpPr>
          <p:nvPr>
            <p:ph type="ftr" sz="quarter" idx="11"/>
          </p:nvPr>
        </p:nvSpPr>
        <p:spPr>
          <a:xfrm>
            <a:off x="3124200" y="541020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518160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371600" y="5943600"/>
            <a:ext cx="2133600" cy="365125"/>
          </a:xfrm>
          <a:prstGeom prst="rect">
            <a:avLst/>
          </a:prstGeom>
        </p:spPr>
        <p:txBody>
          <a:bodyPr/>
          <a:lstStyle/>
          <a:p>
            <a:fld id="{1D8BD707-D9CF-40AE-B4C6-C98DA3205C09}" type="datetimeFigureOut">
              <a:rPr lang="en-US" smtClean="0"/>
              <a:pPr/>
              <a:t>10/21/2020</a:t>
            </a:fld>
            <a:endParaRPr lang="en-US"/>
          </a:p>
        </p:txBody>
      </p:sp>
      <p:sp>
        <p:nvSpPr>
          <p:cNvPr id="5" name="Footer Placeholder 4"/>
          <p:cNvSpPr>
            <a:spLocks noGrp="1"/>
          </p:cNvSpPr>
          <p:nvPr>
            <p:ph type="ftr" sz="quarter" idx="11"/>
          </p:nvPr>
        </p:nvSpPr>
        <p:spPr>
          <a:xfrm>
            <a:off x="3124200" y="541020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518160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01700" y="1143000"/>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371600" y="5943600"/>
            <a:ext cx="2133600" cy="365125"/>
          </a:xfrm>
          <a:prstGeom prst="rect">
            <a:avLst/>
          </a:prstGeom>
        </p:spPr>
        <p:txBody>
          <a:bodyPr/>
          <a:lstStyle/>
          <a:p>
            <a:fld id="{1D8BD707-D9CF-40AE-B4C6-C98DA3205C09}" type="datetimeFigureOut">
              <a:rPr lang="en-US" smtClean="0"/>
              <a:pPr/>
              <a:t>10/21/2020</a:t>
            </a:fld>
            <a:endParaRPr lang="en-US"/>
          </a:p>
        </p:txBody>
      </p:sp>
      <p:sp>
        <p:nvSpPr>
          <p:cNvPr id="6" name="Footer Placeholder 5"/>
          <p:cNvSpPr>
            <a:spLocks noGrp="1"/>
          </p:cNvSpPr>
          <p:nvPr>
            <p:ph type="ftr" sz="quarter" idx="11"/>
          </p:nvPr>
        </p:nvSpPr>
        <p:spPr>
          <a:xfrm>
            <a:off x="3124200" y="541020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518160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01700" y="1143000"/>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371600" y="5943600"/>
            <a:ext cx="2133600" cy="365125"/>
          </a:xfrm>
          <a:prstGeom prst="rect">
            <a:avLst/>
          </a:prstGeom>
        </p:spPr>
        <p:txBody>
          <a:bodyPr/>
          <a:lstStyle/>
          <a:p>
            <a:fld id="{1D8BD707-D9CF-40AE-B4C6-C98DA3205C09}" type="datetimeFigureOut">
              <a:rPr lang="en-US" smtClean="0"/>
              <a:pPr/>
              <a:t>10/21/2020</a:t>
            </a:fld>
            <a:endParaRPr lang="en-US"/>
          </a:p>
        </p:txBody>
      </p:sp>
      <p:sp>
        <p:nvSpPr>
          <p:cNvPr id="8" name="Footer Placeholder 7"/>
          <p:cNvSpPr>
            <a:spLocks noGrp="1"/>
          </p:cNvSpPr>
          <p:nvPr>
            <p:ph type="ftr" sz="quarter" idx="11"/>
          </p:nvPr>
        </p:nvSpPr>
        <p:spPr>
          <a:xfrm>
            <a:off x="3124200" y="541020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518160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01700" y="1143000"/>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371600" y="5943600"/>
            <a:ext cx="2133600" cy="365125"/>
          </a:xfrm>
          <a:prstGeom prst="rect">
            <a:avLst/>
          </a:prstGeom>
        </p:spPr>
        <p:txBody>
          <a:bodyPr/>
          <a:lstStyle/>
          <a:p>
            <a:fld id="{1D8BD707-D9CF-40AE-B4C6-C98DA3205C09}" type="datetimeFigureOut">
              <a:rPr lang="en-US" smtClean="0"/>
              <a:pPr/>
              <a:t>10/21/2020</a:t>
            </a:fld>
            <a:endParaRPr lang="en-US"/>
          </a:p>
        </p:txBody>
      </p:sp>
      <p:sp>
        <p:nvSpPr>
          <p:cNvPr id="4" name="Footer Placeholder 3"/>
          <p:cNvSpPr>
            <a:spLocks noGrp="1"/>
          </p:cNvSpPr>
          <p:nvPr>
            <p:ph type="ftr" sz="quarter" idx="11"/>
          </p:nvPr>
        </p:nvSpPr>
        <p:spPr>
          <a:xfrm>
            <a:off x="3124200" y="541020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518160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371600" y="5943600"/>
            <a:ext cx="2133600" cy="365125"/>
          </a:xfrm>
          <a:prstGeom prst="rect">
            <a:avLst/>
          </a:prstGeom>
        </p:spPr>
        <p:txBody>
          <a:bodyPr/>
          <a:lstStyle/>
          <a:p>
            <a:fld id="{1D8BD707-D9CF-40AE-B4C6-C98DA3205C09}" type="datetimeFigureOut">
              <a:rPr lang="en-US" smtClean="0"/>
              <a:pPr/>
              <a:t>10/21/2020</a:t>
            </a:fld>
            <a:endParaRPr lang="en-US"/>
          </a:p>
        </p:txBody>
      </p:sp>
      <p:sp>
        <p:nvSpPr>
          <p:cNvPr id="3" name="Footer Placeholder 2"/>
          <p:cNvSpPr>
            <a:spLocks noGrp="1"/>
          </p:cNvSpPr>
          <p:nvPr>
            <p:ph type="ftr" sz="quarter" idx="11"/>
          </p:nvPr>
        </p:nvSpPr>
        <p:spPr>
          <a:xfrm>
            <a:off x="3124200" y="541020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518160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371600" y="5943600"/>
            <a:ext cx="2133600" cy="365125"/>
          </a:xfrm>
          <a:prstGeom prst="rect">
            <a:avLst/>
          </a:prstGeom>
        </p:spPr>
        <p:txBody>
          <a:bodyPr/>
          <a:lstStyle/>
          <a:p>
            <a:fld id="{1D8BD707-D9CF-40AE-B4C6-C98DA3205C09}" type="datetimeFigureOut">
              <a:rPr lang="en-US" smtClean="0"/>
              <a:pPr/>
              <a:t>10/21/2020</a:t>
            </a:fld>
            <a:endParaRPr lang="en-US"/>
          </a:p>
        </p:txBody>
      </p:sp>
      <p:sp>
        <p:nvSpPr>
          <p:cNvPr id="6" name="Footer Placeholder 5"/>
          <p:cNvSpPr>
            <a:spLocks noGrp="1"/>
          </p:cNvSpPr>
          <p:nvPr>
            <p:ph type="ftr" sz="quarter" idx="11"/>
          </p:nvPr>
        </p:nvSpPr>
        <p:spPr>
          <a:xfrm>
            <a:off x="3124200" y="541020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518160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371600" y="5943600"/>
            <a:ext cx="2133600" cy="365125"/>
          </a:xfrm>
          <a:prstGeom prst="rect">
            <a:avLst/>
          </a:prstGeom>
        </p:spPr>
        <p:txBody>
          <a:bodyPr/>
          <a:lstStyle/>
          <a:p>
            <a:fld id="{1D8BD707-D9CF-40AE-B4C6-C98DA3205C09}" type="datetimeFigureOut">
              <a:rPr lang="en-US" smtClean="0"/>
              <a:pPr/>
              <a:t>10/21/2020</a:t>
            </a:fld>
            <a:endParaRPr lang="en-US"/>
          </a:p>
        </p:txBody>
      </p:sp>
      <p:sp>
        <p:nvSpPr>
          <p:cNvPr id="6" name="Footer Placeholder 5"/>
          <p:cNvSpPr>
            <a:spLocks noGrp="1"/>
          </p:cNvSpPr>
          <p:nvPr>
            <p:ph type="ftr" sz="quarter" idx="11"/>
          </p:nvPr>
        </p:nvSpPr>
        <p:spPr>
          <a:xfrm>
            <a:off x="3124200" y="541020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518160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901700" y="1143000"/>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371600" y="5943600"/>
            <a:ext cx="2133600" cy="365125"/>
          </a:xfrm>
          <a:prstGeom prst="rect">
            <a:avLst/>
          </a:prstGeom>
        </p:spPr>
        <p:txBody>
          <a:bodyPr/>
          <a:lstStyle/>
          <a:p>
            <a:fld id="{1D8BD707-D9CF-40AE-B4C6-C98DA3205C09}" type="datetimeFigureOut">
              <a:rPr lang="en-US" smtClean="0"/>
              <a:pPr/>
              <a:t>10/21/2020</a:t>
            </a:fld>
            <a:endParaRPr lang="en-US"/>
          </a:p>
        </p:txBody>
      </p:sp>
      <p:sp>
        <p:nvSpPr>
          <p:cNvPr id="5" name="Footer Placeholder 4"/>
          <p:cNvSpPr>
            <a:spLocks noGrp="1"/>
          </p:cNvSpPr>
          <p:nvPr>
            <p:ph type="ftr" sz="quarter" idx="11"/>
          </p:nvPr>
        </p:nvSpPr>
        <p:spPr>
          <a:xfrm>
            <a:off x="3124200" y="541020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518160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371600" y="5943600"/>
            <a:ext cx="2133600" cy="365125"/>
          </a:xfrm>
          <a:prstGeom prst="rect">
            <a:avLst/>
          </a:prstGeom>
        </p:spPr>
        <p:txBody>
          <a:bodyPr/>
          <a:lstStyle/>
          <a:p>
            <a:fld id="{1D8BD707-D9CF-40AE-B4C6-C98DA3205C09}" type="datetimeFigureOut">
              <a:rPr lang="en-US" smtClean="0"/>
              <a:pPr/>
              <a:t>10/21/2020</a:t>
            </a:fld>
            <a:endParaRPr lang="en-US"/>
          </a:p>
        </p:txBody>
      </p:sp>
      <p:sp>
        <p:nvSpPr>
          <p:cNvPr id="5" name="Footer Placeholder 4"/>
          <p:cNvSpPr>
            <a:spLocks noGrp="1"/>
          </p:cNvSpPr>
          <p:nvPr>
            <p:ph type="ftr" sz="quarter" idx="11"/>
          </p:nvPr>
        </p:nvSpPr>
        <p:spPr>
          <a:xfrm>
            <a:off x="3124200" y="541020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518160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743200" y="1066800"/>
            <a:ext cx="6172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aphicFrame>
        <p:nvGraphicFramePr>
          <p:cNvPr id="7" name="Table 6"/>
          <p:cNvGraphicFramePr>
            <a:graphicFrameLocks noGrp="1"/>
          </p:cNvGraphicFramePr>
          <p:nvPr userDrawn="1">
            <p:extLst>
              <p:ext uri="{D42A27DB-BD31-4B8C-83A1-F6EECF244321}">
                <p14:modId xmlns:p14="http://schemas.microsoft.com/office/powerpoint/2010/main" val="3212504966"/>
              </p:ext>
            </p:extLst>
          </p:nvPr>
        </p:nvGraphicFramePr>
        <p:xfrm>
          <a:off x="685800" y="162560"/>
          <a:ext cx="8229600" cy="792480"/>
        </p:xfrm>
        <a:graphic>
          <a:graphicData uri="http://schemas.openxmlformats.org/drawingml/2006/table">
            <a:tbl>
              <a:tblPr firstRow="1" bandRow="1">
                <a:tableStyleId>{00A15C55-8517-42AA-B614-E9B94910E393}</a:tableStyleId>
              </a:tblPr>
              <a:tblGrid>
                <a:gridCol w="8229600">
                  <a:extLst>
                    <a:ext uri="{9D8B030D-6E8A-4147-A177-3AD203B41FA5}">
                      <a16:colId xmlns:a16="http://schemas.microsoft.com/office/drawing/2014/main" val="20000"/>
                    </a:ext>
                  </a:extLst>
                </a:gridCol>
              </a:tblGrid>
              <a:tr h="381000">
                <a:tc>
                  <a:txBody>
                    <a:bodyPr/>
                    <a:lstStyle/>
                    <a:p>
                      <a:r>
                        <a:rPr lang="en-GB" sz="2000" dirty="0"/>
                        <a:t>ICT IGCSE</a:t>
                      </a:r>
                      <a:r>
                        <a:rPr lang="en-GB" sz="2000" baseline="0" dirty="0"/>
                        <a:t> Practical – Revision Presentation</a:t>
                      </a:r>
                      <a:endParaRPr lang="en-GB" sz="2000" dirty="0"/>
                    </a:p>
                  </a:txBody>
                  <a:tcPr>
                    <a:solidFill>
                      <a:srgbClr val="7030A0"/>
                    </a:solidFill>
                  </a:tcPr>
                </a:tc>
                <a:extLst>
                  <a:ext uri="{0D108BD9-81ED-4DB2-BD59-A6C34878D82A}">
                    <a16:rowId xmlns:a16="http://schemas.microsoft.com/office/drawing/2014/main" val="10000"/>
                  </a:ext>
                </a:extLst>
              </a:tr>
              <a:tr h="370840">
                <a:tc>
                  <a:txBody>
                    <a:bodyPr/>
                    <a:lstStyle/>
                    <a:p>
                      <a:r>
                        <a:rPr lang="en-GB" sz="2000" b="1" kern="1200" dirty="0">
                          <a:solidFill>
                            <a:schemeClr val="tx1"/>
                          </a:solidFill>
                          <a:effectLst/>
                          <a:latin typeface="+mn-lt"/>
                          <a:ea typeface="+mn-ea"/>
                          <a:cs typeface="+mn-cs"/>
                        </a:rPr>
                        <a:t>Paper 2: Evidence Document</a:t>
                      </a:r>
                    </a:p>
                  </a:txBody>
                  <a:tcPr/>
                </a:tc>
                <a:extLst>
                  <a:ext uri="{0D108BD9-81ED-4DB2-BD59-A6C34878D82A}">
                    <a16:rowId xmlns:a16="http://schemas.microsoft.com/office/drawing/2014/main" val="10001"/>
                  </a:ext>
                </a:extLst>
              </a:tr>
            </a:tbl>
          </a:graphicData>
        </a:graphic>
      </p:graphicFrame>
      <p:sp>
        <p:nvSpPr>
          <p:cNvPr id="8" name="Rectangle 7"/>
          <p:cNvSpPr/>
          <p:nvPr userDrawn="1"/>
        </p:nvSpPr>
        <p:spPr>
          <a:xfrm>
            <a:off x="152400" y="0"/>
            <a:ext cx="381000" cy="68580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endParaRPr lang="en-GB" dirty="0"/>
          </a:p>
          <a:p>
            <a:pPr algn="ctr"/>
            <a:endParaRPr lang="en-GB" dirty="0"/>
          </a:p>
        </p:txBody>
      </p:sp>
      <p:sp>
        <p:nvSpPr>
          <p:cNvPr id="9" name="TextBox 8"/>
          <p:cNvSpPr txBox="1"/>
          <p:nvPr userDrawn="1"/>
        </p:nvSpPr>
        <p:spPr>
          <a:xfrm>
            <a:off x="109835" y="0"/>
            <a:ext cx="461665" cy="6858000"/>
          </a:xfrm>
          <a:prstGeom prst="rect">
            <a:avLst/>
          </a:prstGeom>
          <a:noFill/>
        </p:spPr>
        <p:txBody>
          <a:bodyPr vert="vert" wrap="square" rtlCol="0">
            <a:spAutoFit/>
          </a:bodyPr>
          <a:lstStyle/>
          <a:p>
            <a:pPr algn="ctr"/>
            <a:r>
              <a:rPr lang="en-GB" sz="1800" b="1" kern="1200" dirty="0">
                <a:solidFill>
                  <a:schemeClr val="tx1"/>
                </a:solidFill>
                <a:effectLst/>
                <a:latin typeface="+mn-lt"/>
                <a:ea typeface="+mn-ea"/>
                <a:cs typeface="+mn-cs"/>
              </a:rPr>
              <a:t>Paper</a:t>
            </a:r>
            <a:r>
              <a:rPr lang="en-GB" sz="1800" b="1" kern="1200" baseline="0" dirty="0">
                <a:solidFill>
                  <a:schemeClr val="tx1"/>
                </a:solidFill>
                <a:effectLst/>
                <a:latin typeface="+mn-lt"/>
                <a:ea typeface="+mn-ea"/>
                <a:cs typeface="+mn-cs"/>
              </a:rPr>
              <a:t> 2</a:t>
            </a:r>
            <a:endParaRPr lang="en-GB" sz="1600" b="1" dirty="0">
              <a:latin typeface="Arial" panose="020B0604020202020204" pitchFamily="34" charset="0"/>
              <a:cs typeface="Arial" panose="020B0604020202020204" pitchFamily="34" charset="0"/>
            </a:endParaRPr>
          </a:p>
        </p:txBody>
      </p:sp>
      <p:sp>
        <p:nvSpPr>
          <p:cNvPr id="10" name="Rectangle 9"/>
          <p:cNvSpPr/>
          <p:nvPr userDrawn="1"/>
        </p:nvSpPr>
        <p:spPr>
          <a:xfrm>
            <a:off x="0" y="6477000"/>
            <a:ext cx="3810000" cy="228600"/>
          </a:xfrm>
          <a:prstGeom prst="rect">
            <a:avLst/>
          </a:prstGeom>
          <a:solidFill>
            <a:srgbClr val="7030A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400" dirty="0"/>
              <a:t>WWW.YAHMAD.CO.UK</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066800"/>
            <a:ext cx="4602456" cy="369332"/>
          </a:xfrm>
          <a:prstGeom prst="rect">
            <a:avLst/>
          </a:prstGeom>
          <a:solidFill>
            <a:srgbClr val="FFFF00"/>
          </a:solidFill>
        </p:spPr>
        <p:txBody>
          <a:bodyPr wrap="square">
            <a:spAutoFit/>
          </a:bodyPr>
          <a:lstStyle/>
          <a:p>
            <a:r>
              <a:rPr lang="en-GB" b="1" dirty="0">
                <a:solidFill>
                  <a:srgbClr val="FF0000"/>
                </a:solidFill>
              </a:rPr>
              <a:t>Screenshot evidence of page size </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460" t="6395"/>
          <a:stretch/>
        </p:blipFill>
        <p:spPr bwMode="auto">
          <a:xfrm>
            <a:off x="2522478" y="1600200"/>
            <a:ext cx="6316721" cy="315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3656" t="3125" r="69979" b="22589"/>
          <a:stretch/>
        </p:blipFill>
        <p:spPr bwMode="auto">
          <a:xfrm>
            <a:off x="716256" y="1600200"/>
            <a:ext cx="1672003"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69983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066800"/>
            <a:ext cx="4572000" cy="369332"/>
          </a:xfrm>
          <a:prstGeom prst="rect">
            <a:avLst/>
          </a:prstGeom>
          <a:solidFill>
            <a:srgbClr val="FFFF00"/>
          </a:solidFill>
        </p:spPr>
        <p:txBody>
          <a:bodyPr>
            <a:spAutoFit/>
          </a:bodyPr>
          <a:lstStyle/>
          <a:p>
            <a:r>
              <a:rPr lang="en-GB" b="1" dirty="0">
                <a:solidFill>
                  <a:srgbClr val="FF0000"/>
                </a:solidFill>
              </a:rPr>
              <a:t>Screenshot evidence of margin settings </a:t>
            </a: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572" t="3247" r="1485" b="1"/>
          <a:stretch/>
        </p:blipFill>
        <p:spPr bwMode="auto">
          <a:xfrm>
            <a:off x="685800" y="1600200"/>
            <a:ext cx="7106195" cy="3372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1084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9343" y="1143000"/>
            <a:ext cx="8077200" cy="646331"/>
          </a:xfrm>
          <a:prstGeom prst="rect">
            <a:avLst/>
          </a:prstGeom>
          <a:solidFill>
            <a:srgbClr val="FFFF00"/>
          </a:solidFill>
        </p:spPr>
        <p:txBody>
          <a:bodyPr wrap="square">
            <a:spAutoFit/>
          </a:bodyPr>
          <a:lstStyle/>
          <a:p>
            <a:r>
              <a:rPr lang="en-GB" b="1" dirty="0">
                <a:solidFill>
                  <a:srgbClr val="FF0000"/>
                </a:solidFill>
              </a:rPr>
              <a:t>Place screenshot evidence of the file saved in your user area.  Make sure there is evidence of the file type.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343" y="1981200"/>
            <a:ext cx="779409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7483" y="4470400"/>
            <a:ext cx="4425950" cy="208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9983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57" y="1058091"/>
            <a:ext cx="2422138" cy="369332"/>
          </a:xfrm>
          <a:prstGeom prst="rect">
            <a:avLst/>
          </a:prstGeom>
          <a:solidFill>
            <a:srgbClr val="FFFF00"/>
          </a:solidFill>
        </p:spPr>
        <p:txBody>
          <a:bodyPr wrap="none">
            <a:spAutoFit/>
          </a:bodyPr>
          <a:lstStyle/>
          <a:p>
            <a:r>
              <a:rPr lang="en-GB" b="1" dirty="0">
                <a:solidFill>
                  <a:srgbClr val="FF0000"/>
                </a:solidFill>
              </a:rPr>
              <a:t>Screenshot of text style</a:t>
            </a:r>
          </a:p>
        </p:txBody>
      </p:sp>
      <p:pic>
        <p:nvPicPr>
          <p:cNvPr id="4100"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543" t="2357" r="2742" b="3379"/>
          <a:stretch/>
        </p:blipFill>
        <p:spPr bwMode="auto">
          <a:xfrm>
            <a:off x="609600" y="1547948"/>
            <a:ext cx="4578172" cy="4745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662" y="3428999"/>
            <a:ext cx="3767137" cy="206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9983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57" y="1058091"/>
            <a:ext cx="4211217" cy="369332"/>
          </a:xfrm>
          <a:prstGeom prst="rect">
            <a:avLst/>
          </a:prstGeom>
          <a:solidFill>
            <a:srgbClr val="FFFF00"/>
          </a:solidFill>
        </p:spPr>
        <p:txBody>
          <a:bodyPr wrap="none">
            <a:spAutoFit/>
          </a:bodyPr>
          <a:lstStyle/>
          <a:p>
            <a:r>
              <a:rPr lang="en-GB" b="1" dirty="0">
                <a:solidFill>
                  <a:srgbClr val="FF0000"/>
                </a:solidFill>
              </a:rPr>
              <a:t>Database field structure screenshots here:</a:t>
            </a:r>
          </a:p>
        </p:txBody>
      </p:sp>
      <p:pic>
        <p:nvPicPr>
          <p:cNvPr id="6"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15769" t="17786" r="57140" b="31425"/>
          <a:stretch/>
        </p:blipFill>
        <p:spPr bwMode="auto">
          <a:xfrm>
            <a:off x="734057" y="1600199"/>
            <a:ext cx="4360457" cy="459606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7"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16218" t="59806" r="66964" b="31573"/>
          <a:stretch/>
        </p:blipFill>
        <p:spPr bwMode="auto">
          <a:xfrm>
            <a:off x="5246067" y="2179320"/>
            <a:ext cx="3701711" cy="10668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8" name="Picture 7"/>
          <p:cNvPicPr>
            <a:picLocks noChangeAspect="1" noChangeArrowheads="1"/>
          </p:cNvPicPr>
          <p:nvPr/>
        </p:nvPicPr>
        <p:blipFill rotWithShape="1">
          <a:blip r:embed="rId4">
            <a:extLst>
              <a:ext uri="{28A0092B-C50C-407E-A947-70E740481C1C}">
                <a14:useLocalDpi xmlns:a14="http://schemas.microsoft.com/office/drawing/2010/main" val="0"/>
              </a:ext>
            </a:extLst>
          </a:blip>
          <a:srcRect l="16361" t="60173" r="69370" b="34810"/>
          <a:stretch/>
        </p:blipFill>
        <p:spPr bwMode="auto">
          <a:xfrm>
            <a:off x="5246067" y="3453494"/>
            <a:ext cx="3731465" cy="73750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9" name="Picture 8"/>
          <p:cNvPicPr>
            <a:picLocks noChangeAspect="1" noChangeArrowheads="1"/>
          </p:cNvPicPr>
          <p:nvPr/>
        </p:nvPicPr>
        <p:blipFill rotWithShape="1">
          <a:blip r:embed="rId5">
            <a:extLst>
              <a:ext uri="{28A0092B-C50C-407E-A947-70E740481C1C}">
                <a14:useLocalDpi xmlns:a14="http://schemas.microsoft.com/office/drawing/2010/main" val="0"/>
              </a:ext>
            </a:extLst>
          </a:blip>
          <a:srcRect l="15708" t="60884" r="63807" b="28987"/>
          <a:stretch/>
        </p:blipFill>
        <p:spPr bwMode="auto">
          <a:xfrm>
            <a:off x="5246067" y="4400523"/>
            <a:ext cx="3701711" cy="102906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493689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57" y="1058091"/>
            <a:ext cx="4380302" cy="369332"/>
          </a:xfrm>
          <a:prstGeom prst="rect">
            <a:avLst/>
          </a:prstGeom>
          <a:solidFill>
            <a:srgbClr val="FFFF00"/>
          </a:solidFill>
        </p:spPr>
        <p:txBody>
          <a:bodyPr wrap="none">
            <a:spAutoFit/>
          </a:bodyPr>
          <a:lstStyle/>
          <a:p>
            <a:r>
              <a:rPr lang="en-GB" b="1" dirty="0">
                <a:solidFill>
                  <a:srgbClr val="FF0000"/>
                </a:solidFill>
              </a:rPr>
              <a:t>Screenshot here showing data entry limited </a:t>
            </a:r>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9206" r="2354" b="10475"/>
          <a:stretch/>
        </p:blipFill>
        <p:spPr bwMode="auto">
          <a:xfrm>
            <a:off x="734058" y="1495696"/>
            <a:ext cx="4974412" cy="1652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73" y="3287485"/>
            <a:ext cx="5098385" cy="3096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8525" y="2590800"/>
            <a:ext cx="2116137" cy="2589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7364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57" y="1058091"/>
            <a:ext cx="5710731" cy="369332"/>
          </a:xfrm>
          <a:prstGeom prst="rect">
            <a:avLst/>
          </a:prstGeom>
          <a:solidFill>
            <a:srgbClr val="FFFF00"/>
          </a:solidFill>
        </p:spPr>
        <p:txBody>
          <a:bodyPr wrap="none">
            <a:spAutoFit/>
          </a:bodyPr>
          <a:lstStyle/>
          <a:p>
            <a:r>
              <a:rPr lang="en-GB" b="1" dirty="0">
                <a:solidFill>
                  <a:srgbClr val="FF0000"/>
                </a:solidFill>
              </a:rPr>
              <a:t>Screenshot of database form with new record details in it</a:t>
            </a:r>
            <a:endParaRPr lang="en-GB"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057" y="1524000"/>
            <a:ext cx="7343143" cy="4488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7364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57" y="1058091"/>
            <a:ext cx="4840171" cy="369332"/>
          </a:xfrm>
          <a:prstGeom prst="rect">
            <a:avLst/>
          </a:prstGeom>
          <a:solidFill>
            <a:srgbClr val="FFFF00"/>
          </a:solidFill>
        </p:spPr>
        <p:txBody>
          <a:bodyPr wrap="none">
            <a:spAutoFit/>
          </a:bodyPr>
          <a:lstStyle/>
          <a:p>
            <a:r>
              <a:rPr lang="en-GB" b="1" dirty="0">
                <a:solidFill>
                  <a:srgbClr val="FF0000"/>
                </a:solidFill>
              </a:rPr>
              <a:t>Relationship between the two tables screenshot </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296" y="1676400"/>
            <a:ext cx="7436039"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2750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57" y="1058091"/>
            <a:ext cx="2936445" cy="369332"/>
          </a:xfrm>
          <a:prstGeom prst="rect">
            <a:avLst/>
          </a:prstGeom>
          <a:solidFill>
            <a:srgbClr val="FFFF00"/>
          </a:solidFill>
        </p:spPr>
        <p:txBody>
          <a:bodyPr wrap="none">
            <a:spAutoFit/>
          </a:bodyPr>
          <a:lstStyle/>
          <a:p>
            <a:r>
              <a:rPr lang="en-GB" b="1" dirty="0">
                <a:solidFill>
                  <a:srgbClr val="FF0000"/>
                </a:solidFill>
              </a:rPr>
              <a:t>Selection criteria screenshot </a:t>
            </a:r>
          </a:p>
        </p:txBody>
      </p:sp>
      <p:pic>
        <p:nvPicPr>
          <p:cNvPr id="92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057" y="1676400"/>
            <a:ext cx="7995017"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057" y="3429000"/>
            <a:ext cx="8090647"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054" y="4572000"/>
            <a:ext cx="368142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0376" y="4569823"/>
            <a:ext cx="1521823" cy="1382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2750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57" y="1058091"/>
            <a:ext cx="5652253" cy="369332"/>
          </a:xfrm>
          <a:prstGeom prst="rect">
            <a:avLst/>
          </a:prstGeom>
          <a:solidFill>
            <a:srgbClr val="FFFF00"/>
          </a:solidFill>
        </p:spPr>
        <p:txBody>
          <a:bodyPr wrap="none">
            <a:spAutoFit/>
          </a:bodyPr>
          <a:lstStyle/>
          <a:p>
            <a:r>
              <a:rPr lang="en-GB" b="1" dirty="0">
                <a:solidFill>
                  <a:srgbClr val="FF0000"/>
                </a:solidFill>
              </a:rPr>
              <a:t>Calculated control formula for total value of overdue fees</a:t>
            </a:r>
          </a:p>
        </p:txBody>
      </p:sp>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6356"/>
          <a:stretch/>
        </p:blipFill>
        <p:spPr bwMode="auto">
          <a:xfrm>
            <a:off x="744943" y="1752600"/>
            <a:ext cx="7719788"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35263"/>
          <a:stretch/>
        </p:blipFill>
        <p:spPr bwMode="auto">
          <a:xfrm>
            <a:off x="759094" y="4343400"/>
            <a:ext cx="7691485" cy="1346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34056" y="3429000"/>
            <a:ext cx="4299190" cy="369332"/>
          </a:xfrm>
          <a:prstGeom prst="rect">
            <a:avLst/>
          </a:prstGeom>
          <a:solidFill>
            <a:srgbClr val="FFFF00"/>
          </a:solidFill>
        </p:spPr>
        <p:txBody>
          <a:bodyPr wrap="none">
            <a:spAutoFit/>
          </a:bodyPr>
          <a:lstStyle/>
          <a:p>
            <a:r>
              <a:rPr lang="en-GB" b="1" dirty="0">
                <a:solidFill>
                  <a:srgbClr val="FF0000"/>
                </a:solidFill>
              </a:rPr>
              <a:t>Calculated control formula screenshot here</a:t>
            </a:r>
          </a:p>
        </p:txBody>
      </p:sp>
    </p:spTree>
    <p:extLst>
      <p:ext uri="{BB962C8B-B14F-4D97-AF65-F5344CB8AC3E}">
        <p14:creationId xmlns:p14="http://schemas.microsoft.com/office/powerpoint/2010/main" val="2611971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7931" y="1058091"/>
            <a:ext cx="2204963" cy="369332"/>
          </a:xfrm>
          <a:prstGeom prst="rect">
            <a:avLst/>
          </a:prstGeom>
          <a:solidFill>
            <a:srgbClr val="FFFF00"/>
          </a:solidFill>
        </p:spPr>
        <p:txBody>
          <a:bodyPr wrap="none">
            <a:spAutoFit/>
          </a:bodyPr>
          <a:lstStyle/>
          <a:p>
            <a:r>
              <a:rPr lang="en-GB" b="1" dirty="0">
                <a:solidFill>
                  <a:srgbClr val="FF0000"/>
                </a:solidFill>
              </a:rPr>
              <a:t>Date field screenshot</a:t>
            </a:r>
          </a:p>
        </p:txBody>
      </p:sp>
      <p:pic>
        <p:nvPicPr>
          <p:cNvPr id="112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907" t="11846"/>
          <a:stretch/>
        </p:blipFill>
        <p:spPr bwMode="auto">
          <a:xfrm>
            <a:off x="707931" y="1600201"/>
            <a:ext cx="3389811" cy="1090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15105"/>
          <a:stretch/>
        </p:blipFill>
        <p:spPr bwMode="auto">
          <a:xfrm>
            <a:off x="4267200" y="1981200"/>
            <a:ext cx="3976974" cy="569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691" y="3585754"/>
            <a:ext cx="839452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692691" y="2971800"/>
            <a:ext cx="4563365" cy="369332"/>
          </a:xfrm>
          <a:prstGeom prst="rect">
            <a:avLst/>
          </a:prstGeom>
          <a:solidFill>
            <a:srgbClr val="FFFF00"/>
          </a:solidFill>
        </p:spPr>
        <p:txBody>
          <a:bodyPr wrap="none">
            <a:spAutoFit/>
          </a:bodyPr>
          <a:lstStyle/>
          <a:p>
            <a:r>
              <a:rPr lang="en-GB" b="1" dirty="0">
                <a:solidFill>
                  <a:srgbClr val="FF0000"/>
                </a:solidFill>
              </a:rPr>
              <a:t>Mail merge selection method screenshot here</a:t>
            </a:r>
          </a:p>
        </p:txBody>
      </p:sp>
    </p:spTree>
    <p:extLst>
      <p:ext uri="{BB962C8B-B14F-4D97-AF65-F5344CB8AC3E}">
        <p14:creationId xmlns:p14="http://schemas.microsoft.com/office/powerpoint/2010/main" val="1975092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7931" y="1058091"/>
            <a:ext cx="2629310" cy="369332"/>
          </a:xfrm>
          <a:prstGeom prst="rect">
            <a:avLst/>
          </a:prstGeom>
          <a:solidFill>
            <a:srgbClr val="FFFF00"/>
          </a:solidFill>
        </p:spPr>
        <p:txBody>
          <a:bodyPr wrap="none">
            <a:spAutoFit/>
          </a:bodyPr>
          <a:lstStyle/>
          <a:p>
            <a:r>
              <a:rPr lang="en-GB" b="1" dirty="0">
                <a:solidFill>
                  <a:srgbClr val="FF0000"/>
                </a:solidFill>
              </a:rPr>
              <a:t>Evidence of merged fields</a:t>
            </a:r>
          </a:p>
        </p:txBody>
      </p:sp>
      <p:pic>
        <p:nvPicPr>
          <p:cNvPr id="7" name="Picture 6"/>
          <p:cNvPicPr/>
          <p:nvPr/>
        </p:nvPicPr>
        <p:blipFill rotWithShape="1">
          <a:blip r:embed="rId2"/>
          <a:srcRect l="-82" t="4761" r="25315" b="30353"/>
          <a:stretch/>
        </p:blipFill>
        <p:spPr bwMode="auto">
          <a:xfrm>
            <a:off x="707931" y="1676401"/>
            <a:ext cx="8055069" cy="40386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62864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57" y="1058091"/>
            <a:ext cx="2865015" cy="369332"/>
          </a:xfrm>
          <a:prstGeom prst="rect">
            <a:avLst/>
          </a:prstGeom>
          <a:solidFill>
            <a:srgbClr val="FFFF00"/>
          </a:solidFill>
        </p:spPr>
        <p:txBody>
          <a:bodyPr wrap="none">
            <a:spAutoFit/>
          </a:bodyPr>
          <a:lstStyle/>
          <a:p>
            <a:r>
              <a:rPr lang="en-GB" b="1" dirty="0">
                <a:solidFill>
                  <a:srgbClr val="FF0000"/>
                </a:solidFill>
              </a:rPr>
              <a:t>Bullet animation screenshot</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057" y="1600200"/>
            <a:ext cx="8142648"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0653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57" y="1058091"/>
            <a:ext cx="3876061" cy="369332"/>
          </a:xfrm>
          <a:prstGeom prst="rect">
            <a:avLst/>
          </a:prstGeom>
          <a:solidFill>
            <a:srgbClr val="FFFF00"/>
          </a:solidFill>
        </p:spPr>
        <p:txBody>
          <a:bodyPr wrap="none">
            <a:spAutoFit/>
          </a:bodyPr>
          <a:lstStyle/>
          <a:p>
            <a:r>
              <a:rPr lang="en-GB" b="1" dirty="0">
                <a:solidFill>
                  <a:srgbClr val="FF0000"/>
                </a:solidFill>
              </a:rPr>
              <a:t>On-screen looped selection screenshot</a:t>
            </a:r>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057" y="1524000"/>
            <a:ext cx="4449763" cy="478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8733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57" y="1058091"/>
            <a:ext cx="3156442" cy="369332"/>
          </a:xfrm>
          <a:prstGeom prst="rect">
            <a:avLst/>
          </a:prstGeom>
          <a:solidFill>
            <a:srgbClr val="FFFF00"/>
          </a:solidFill>
        </p:spPr>
        <p:txBody>
          <a:bodyPr wrap="none">
            <a:spAutoFit/>
          </a:bodyPr>
          <a:lstStyle/>
          <a:p>
            <a:r>
              <a:rPr lang="en-GB" b="1" dirty="0">
                <a:solidFill>
                  <a:srgbClr val="FF0000"/>
                </a:solidFill>
              </a:rPr>
              <a:t>Master slide layout screenshot </a:t>
            </a:r>
          </a:p>
        </p:txBody>
      </p:sp>
      <p:pic>
        <p:nvPicPr>
          <p:cNvPr id="122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7216"/>
          <a:stretch/>
        </p:blipFill>
        <p:spPr bwMode="auto">
          <a:xfrm>
            <a:off x="714463" y="1600199"/>
            <a:ext cx="8124737" cy="4505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2661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57" y="1058090"/>
            <a:ext cx="8181343" cy="646331"/>
          </a:xfrm>
          <a:prstGeom prst="rect">
            <a:avLst/>
          </a:prstGeom>
          <a:solidFill>
            <a:srgbClr val="FFFF00"/>
          </a:solidFill>
        </p:spPr>
        <p:txBody>
          <a:bodyPr wrap="square">
            <a:spAutoFit/>
          </a:bodyPr>
          <a:lstStyle/>
          <a:p>
            <a:r>
              <a:rPr lang="en-GB" b="1" dirty="0">
                <a:solidFill>
                  <a:srgbClr val="FF0000"/>
                </a:solidFill>
              </a:rPr>
              <a:t>Screenshot(s) and description of any presentation features that are not visible on Printout 5.</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057" y="1828800"/>
            <a:ext cx="816629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2661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01041" y="1219200"/>
            <a:ext cx="8077200" cy="1754326"/>
          </a:xfrm>
          <a:prstGeom prst="rect">
            <a:avLst/>
          </a:prstGeom>
          <a:ln>
            <a:solidFill>
              <a:srgbClr val="7030A0"/>
            </a:solidFill>
          </a:ln>
        </p:spPr>
        <p:txBody>
          <a:bodyPr wrap="square">
            <a:spAutoFit/>
          </a:bodyPr>
          <a:lstStyle/>
          <a:p>
            <a:r>
              <a:rPr lang="en-GB" b="1" dirty="0">
                <a:solidFill>
                  <a:srgbClr val="FF0000"/>
                </a:solidFill>
              </a:rPr>
              <a:t>Step 30 - EVIDENCE 12 – Evaluation of checklist suitability with suggested improvements and reasons:</a:t>
            </a:r>
          </a:p>
          <a:p>
            <a:r>
              <a:rPr lang="en-GB" dirty="0"/>
              <a:t> </a:t>
            </a:r>
          </a:p>
          <a:p>
            <a:r>
              <a:rPr lang="en-GB" dirty="0"/>
              <a:t>The checklist requires a spell check to meet professional standards. The text styles should also be in a consistent font and style. Headings can be emphasised so that they stand out.</a:t>
            </a:r>
          </a:p>
        </p:txBody>
      </p:sp>
      <p:sp>
        <p:nvSpPr>
          <p:cNvPr id="4" name="Rectangle 3"/>
          <p:cNvSpPr/>
          <p:nvPr/>
        </p:nvSpPr>
        <p:spPr>
          <a:xfrm>
            <a:off x="701041" y="3200400"/>
            <a:ext cx="8066314" cy="1754326"/>
          </a:xfrm>
          <a:prstGeom prst="rect">
            <a:avLst/>
          </a:prstGeom>
          <a:ln>
            <a:solidFill>
              <a:srgbClr val="7030A0"/>
            </a:solidFill>
          </a:ln>
        </p:spPr>
        <p:txBody>
          <a:bodyPr wrap="square">
            <a:spAutoFit/>
          </a:bodyPr>
          <a:lstStyle/>
          <a:p>
            <a:r>
              <a:rPr lang="en-GB" b="1" dirty="0">
                <a:solidFill>
                  <a:srgbClr val="FF0000"/>
                </a:solidFill>
              </a:rPr>
              <a:t>Evidence 8</a:t>
            </a:r>
            <a:endParaRPr lang="en-GB" dirty="0">
              <a:solidFill>
                <a:srgbClr val="FF0000"/>
              </a:solidFill>
            </a:endParaRPr>
          </a:p>
          <a:p>
            <a:r>
              <a:rPr lang="en-GB" dirty="0"/>
              <a:t> </a:t>
            </a:r>
          </a:p>
          <a:p>
            <a:r>
              <a:rPr lang="en-GB" dirty="0"/>
              <a:t>Letter can be reused with different recipients. Individual contact and name details do not need to be typed in. Some users may find it difficult to set up the mail merge. In conclusion Mail merge is a quicker method of sending one letter  to many contacts.  </a:t>
            </a:r>
          </a:p>
        </p:txBody>
      </p:sp>
    </p:spTree>
    <p:extLst>
      <p:ext uri="{BB962C8B-B14F-4D97-AF65-F5344CB8AC3E}">
        <p14:creationId xmlns:p14="http://schemas.microsoft.com/office/powerpoint/2010/main" val="652661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143000"/>
            <a:ext cx="8229600" cy="2031325"/>
          </a:xfrm>
          <a:prstGeom prst="rect">
            <a:avLst/>
          </a:prstGeom>
          <a:ln>
            <a:solidFill>
              <a:srgbClr val="7030A0"/>
            </a:solidFill>
          </a:ln>
        </p:spPr>
        <p:txBody>
          <a:bodyPr wrap="square">
            <a:spAutoFit/>
          </a:bodyPr>
          <a:lstStyle/>
          <a:p>
            <a:r>
              <a:rPr lang="en-GB" b="1" dirty="0">
                <a:solidFill>
                  <a:srgbClr val="FF0000"/>
                </a:solidFill>
              </a:rPr>
              <a:t>Step 23 – EVIDENCE 8 – Evaluate the design of your data entry form:</a:t>
            </a:r>
          </a:p>
          <a:p>
            <a:r>
              <a:rPr lang="en-GB" dirty="0"/>
              <a:t> </a:t>
            </a:r>
          </a:p>
          <a:p>
            <a:pPr lvl="0"/>
            <a:r>
              <a:rPr lang="en-GB" dirty="0"/>
              <a:t>Drop down list used to reduce data entry errors</a:t>
            </a:r>
          </a:p>
          <a:p>
            <a:r>
              <a:rPr lang="en-GB" dirty="0"/>
              <a:t>Suitable field lengths for this data</a:t>
            </a:r>
          </a:p>
          <a:p>
            <a:r>
              <a:rPr lang="en-GB" dirty="0"/>
              <a:t>Navigation aids to look through records</a:t>
            </a:r>
          </a:p>
          <a:p>
            <a:r>
              <a:rPr lang="en-GB" dirty="0"/>
              <a:t>Appropriate fields lengths for data entry</a:t>
            </a:r>
          </a:p>
          <a:p>
            <a:r>
              <a:rPr lang="en-GB" dirty="0"/>
              <a:t>Appropriate font styles and colours.</a:t>
            </a:r>
          </a:p>
        </p:txBody>
      </p:sp>
      <p:sp>
        <p:nvSpPr>
          <p:cNvPr id="5" name="Rectangle 4"/>
          <p:cNvSpPr/>
          <p:nvPr/>
        </p:nvSpPr>
        <p:spPr>
          <a:xfrm>
            <a:off x="685800" y="3429000"/>
            <a:ext cx="8229600" cy="1200329"/>
          </a:xfrm>
          <a:prstGeom prst="rect">
            <a:avLst/>
          </a:prstGeom>
          <a:ln>
            <a:solidFill>
              <a:srgbClr val="7030A0"/>
            </a:solidFill>
          </a:ln>
        </p:spPr>
        <p:txBody>
          <a:bodyPr wrap="square">
            <a:spAutoFit/>
          </a:bodyPr>
          <a:lstStyle/>
          <a:p>
            <a:r>
              <a:rPr lang="en-GB" b="1" dirty="0">
                <a:solidFill>
                  <a:srgbClr val="FF0000"/>
                </a:solidFill>
              </a:rPr>
              <a:t>Step 36 – EVIDENCE 14 – Evaluate the presentation:</a:t>
            </a:r>
          </a:p>
          <a:p>
            <a:r>
              <a:rPr lang="en-GB" dirty="0"/>
              <a:t> </a:t>
            </a:r>
          </a:p>
          <a:p>
            <a:r>
              <a:rPr lang="en-GB" dirty="0"/>
              <a:t>Appropriate slide layout including a logo on each slide. Styles and formatting are also consistent on each slide. </a:t>
            </a:r>
          </a:p>
        </p:txBody>
      </p:sp>
    </p:spTree>
    <p:extLst>
      <p:ext uri="{BB962C8B-B14F-4D97-AF65-F5344CB8AC3E}">
        <p14:creationId xmlns:p14="http://schemas.microsoft.com/office/powerpoint/2010/main" val="24794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143000"/>
            <a:ext cx="8229600" cy="1200329"/>
          </a:xfrm>
          <a:prstGeom prst="rect">
            <a:avLst/>
          </a:prstGeom>
          <a:ln>
            <a:solidFill>
              <a:srgbClr val="7030A0"/>
            </a:solidFill>
          </a:ln>
        </p:spPr>
        <p:txBody>
          <a:bodyPr wrap="square">
            <a:spAutoFit/>
          </a:bodyPr>
          <a:lstStyle/>
          <a:p>
            <a:r>
              <a:rPr lang="en-GB" b="1" dirty="0">
                <a:solidFill>
                  <a:srgbClr val="FF0000"/>
                </a:solidFill>
              </a:rPr>
              <a:t>Step 28 – EVIDENCE 8 – Evaluate the design of your data entry form</a:t>
            </a:r>
          </a:p>
          <a:p>
            <a:r>
              <a:rPr lang="en-GB" dirty="0"/>
              <a:t> </a:t>
            </a:r>
          </a:p>
          <a:p>
            <a:r>
              <a:rPr lang="en-GB" dirty="0"/>
              <a:t>Good use of navigation button to move between records. The layout and formatting is consistent. Also the field lengths are suitable lengths to enter the appropriate data. </a:t>
            </a:r>
          </a:p>
        </p:txBody>
      </p:sp>
      <p:sp>
        <p:nvSpPr>
          <p:cNvPr id="5" name="Rectangle 4"/>
          <p:cNvSpPr/>
          <p:nvPr/>
        </p:nvSpPr>
        <p:spPr>
          <a:xfrm>
            <a:off x="685800" y="2819400"/>
            <a:ext cx="8229600" cy="2031325"/>
          </a:xfrm>
          <a:prstGeom prst="rect">
            <a:avLst/>
          </a:prstGeom>
          <a:ln>
            <a:solidFill>
              <a:srgbClr val="7030A0"/>
            </a:solidFill>
          </a:ln>
        </p:spPr>
        <p:txBody>
          <a:bodyPr wrap="square">
            <a:spAutoFit/>
          </a:bodyPr>
          <a:lstStyle/>
          <a:p>
            <a:r>
              <a:rPr lang="en-GB" b="1" dirty="0">
                <a:solidFill>
                  <a:srgbClr val="FF0000"/>
                </a:solidFill>
              </a:rPr>
              <a:t>Step 15 – EVIDENCE 5 – Evaluation of graph or chart choice and comparison to at least one other chart type</a:t>
            </a:r>
          </a:p>
          <a:p>
            <a:r>
              <a:rPr lang="en-GB" dirty="0"/>
              <a:t> </a:t>
            </a:r>
          </a:p>
          <a:p>
            <a:r>
              <a:rPr lang="en-GB" dirty="0"/>
              <a:t>Comparative bar chart is the most suitable choice of graph as it is able to compare 3 sets of data. Visually it is easy to compare the differences of the data compared to a Pie Chart. Pie Chart will not be able to compare the data and will only show the percentage. </a:t>
            </a:r>
          </a:p>
        </p:txBody>
      </p:sp>
    </p:spTree>
    <p:extLst>
      <p:ext uri="{BB962C8B-B14F-4D97-AF65-F5344CB8AC3E}">
        <p14:creationId xmlns:p14="http://schemas.microsoft.com/office/powerpoint/2010/main" val="1626115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6431</TotalTime>
  <Words>429</Words>
  <Application>Microsoft Office PowerPoint</Application>
  <PresentationFormat>On-screen Show (4:3)</PresentationFormat>
  <Paragraphs>40</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yahmad</dc:creator>
  <cp:lastModifiedBy>Yumna Beltagui</cp:lastModifiedBy>
  <cp:revision>434</cp:revision>
  <cp:lastPrinted>2016-04-21T06:09:47Z</cp:lastPrinted>
  <dcterms:created xsi:type="dcterms:W3CDTF">2006-08-16T00:00:00Z</dcterms:created>
  <dcterms:modified xsi:type="dcterms:W3CDTF">2020-10-21T19:26:27Z</dcterms:modified>
</cp:coreProperties>
</file>